
<file path=[Content_Types].xml><?xml version="1.0" encoding="utf-8"?>
<Types xmlns="http://schemas.openxmlformats.org/package/2006/content-types">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7FB59A7-EC65-4619-BF9D-75ABF18B657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3"/>
    <p:restoredTop sz="94618"/>
  </p:normalViewPr>
  <p:slideViewPr>
    <p:cSldViewPr snapToGrid="0" showGuides="1">
      <p:cViewPr varScale="1">
        <p:scale>
          <a:sx n="183" d="100"/>
          <a:sy n="183" d="100"/>
        </p:scale>
        <p:origin x="192" y="17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
        <p:cNvGrpSpPr/>
        <p:nvPr/>
      </p:nvGrpSpPr>
      <p:grpSpPr>
        <a:xfrm>
          <a:off x="0" y="0"/>
          <a:ext cx="0" cy="0"/>
          <a:chOff x="0" y="0"/>
          <a:chExt cx="0" cy="0"/>
        </a:xfrm>
      </p:grpSpPr>
      <p:sp>
        <p:nvSpPr>
          <p:cNvPr id="58" name="Google Shape;58;g2d60d3c89c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d60d3c89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
        <p:cNvGrpSpPr/>
        <p:nvPr/>
      </p:nvGrpSpPr>
      <p:grpSpPr>
        <a:xfrm>
          <a:off x="0" y="0"/>
          <a:ext cx="0" cy="0"/>
          <a:chOff x="0" y="0"/>
          <a:chExt cx="0" cy="0"/>
        </a:xfrm>
      </p:grpSpPr>
      <p:sp>
        <p:nvSpPr>
          <p:cNvPr id="67" name="Google Shape;67;g31a085e5971_1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1a085e5971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GB" sz="1800">
                <a:solidFill>
                  <a:schemeClr val="dk1"/>
                </a:solidFill>
              </a:rPr>
              <a:t>About Emotion Recognition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Why it is important to be able to detect emotion from speech</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Why Noisy situations ?</a:t>
            </a:r>
            <a:endParaRPr lang="en-GB" sz="18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
        <p:cNvGrpSpPr/>
        <p:nvPr/>
      </p:nvGrpSpPr>
      <p:grpSpPr>
        <a:xfrm>
          <a:off x="0" y="0"/>
          <a:ext cx="0" cy="0"/>
          <a:chOff x="0" y="0"/>
          <a:chExt cx="0" cy="0"/>
        </a:xfrm>
      </p:grpSpPr>
      <p:sp>
        <p:nvSpPr>
          <p:cNvPr id="77" name="Google Shape;77;g31aabe06dc4_4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1aabe06dc4_4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GB" sz="1800">
                <a:solidFill>
                  <a:schemeClr val="dk1"/>
                </a:solidFill>
              </a:rPr>
              <a:t>About Emotion Recognition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Why it is important to be able to detect emotion from speech</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Why Noisy situations ?</a:t>
            </a:r>
            <a:endParaRPr lang="en-GB" sz="18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g2d60d3c89cb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d60d3c89cb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1300">
                <a:solidFill>
                  <a:schemeClr val="dk1"/>
                </a:solidFill>
              </a:rPr>
              <a:t>Conventional Methods</a:t>
            </a:r>
            <a:endParaRPr sz="13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300">
                <a:solidFill>
                  <a:schemeClr val="dk1"/>
                </a:solidFill>
              </a:rPr>
              <a:t>- Spectral Gating</a:t>
            </a:r>
            <a:endParaRPr sz="13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300">
                <a:solidFill>
                  <a:schemeClr val="dk1"/>
                </a:solidFill>
              </a:rPr>
              <a:t>- TF Techniques</a:t>
            </a:r>
            <a:endParaRPr sz="13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300">
                <a:solidFill>
                  <a:schemeClr val="dk1"/>
                </a:solidFill>
              </a:rPr>
              <a:t>- PCA Denoising</a:t>
            </a:r>
            <a:endParaRPr sz="13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300">
                <a:solidFill>
                  <a:schemeClr val="dk1"/>
                </a:solidFill>
              </a:rPr>
              <a:t>- GAN’s</a:t>
            </a:r>
            <a:endParaRPr sz="13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300">
                <a:solidFill>
                  <a:schemeClr val="dk1"/>
                </a:solidFill>
              </a:rPr>
              <a:t>- SEGAN</a:t>
            </a:r>
            <a:endParaRPr sz="13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300">
                <a:solidFill>
                  <a:schemeClr val="dk1"/>
                </a:solidFill>
              </a:rPr>
              <a:t>- MetricGAN/ Speech brain.</a:t>
            </a:r>
            <a:endParaRPr sz="1300">
              <a:solidFill>
                <a:schemeClr val="dk1"/>
              </a:solidFill>
            </a:endParaRPr>
          </a:p>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g31aabe06dc4_4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1aabe06dc4_4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g31b45f1ebc0_3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b45f1ebc0_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3"/>
        <p:cNvGrpSpPr/>
        <p:nvPr/>
      </p:nvGrpSpPr>
      <p:grpSpPr>
        <a:xfrm>
          <a:off x="0" y="0"/>
          <a:ext cx="0" cy="0"/>
          <a:chOff x="0" y="0"/>
          <a:chExt cx="0" cy="0"/>
        </a:xfrm>
      </p:grpSpPr>
      <p:sp>
        <p:nvSpPr>
          <p:cNvPr id="134" name="Google Shape;134;g31b45f1ebc0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1b45f1ebc0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g2d60d3c89cb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d60d3c89cb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g31b45f1ebc0_3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1b45f1ebc0_3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GB" sz="1800">
                <a:solidFill>
                  <a:schemeClr val="dk1"/>
                </a:solidFill>
              </a:rPr>
              <a:t>1. Clean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2. Noise (Typing)</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3. Combined 40 dB, 4 Combined 0 dB</a:t>
            </a:r>
            <a:endParaRPr lang="en-GB" sz="18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2"/>
        <p:cNvGrpSpPr/>
        <p:nvPr/>
      </p:nvGrpSpPr>
      <p:grpSpPr>
        <a:xfrm>
          <a:off x="0" y="0"/>
          <a:ext cx="0" cy="0"/>
          <a:chOff x="0" y="0"/>
          <a:chExt cx="0" cy="0"/>
        </a:xfrm>
      </p:grpSpPr>
      <p:sp>
        <p:nvSpPr>
          <p:cNvPr id="183" name="Google Shape;183;g31b45f1ebc0_3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1b45f1ebc0_3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GB" sz="1800">
                <a:solidFill>
                  <a:schemeClr val="dk1"/>
                </a:solidFill>
              </a:rPr>
              <a:t>1. Clean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2. Noise (Typing)</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GB" sz="1800">
                <a:solidFill>
                  <a:schemeClr val="dk1"/>
                </a:solidFill>
              </a:rPr>
              <a:t>3. Combined 40 dB, 4 Combined 0 dB</a:t>
            </a:r>
            <a:endParaRPr lang="en-GB" sz="18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2"/>
        <p:cNvGrpSpPr/>
        <p:nvPr/>
      </p:nvGrpSpPr>
      <p:grpSpPr>
        <a:xfrm>
          <a:off x="0" y="0"/>
          <a:ext cx="0" cy="0"/>
          <a:chOff x="0" y="0"/>
          <a:chExt cx="0" cy="0"/>
        </a:xfrm>
      </p:grpSpPr>
      <p:sp>
        <p:nvSpPr>
          <p:cNvPr id="203" name="Google Shape;203;g31b45f1ebc0_3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1b45f1ebc0_3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g2d60d3c89cb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d60d3c89cb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8"/>
        <p:cNvGrpSpPr/>
        <p:nvPr/>
      </p:nvGrpSpPr>
      <p:grpSpPr>
        <a:xfrm>
          <a:off x="0" y="0"/>
          <a:ext cx="0" cy="0"/>
          <a:chOff x="0" y="0"/>
          <a:chExt cx="0" cy="0"/>
        </a:xfrm>
      </p:grpSpPr>
      <p:sp>
        <p:nvSpPr>
          <p:cNvPr id="229" name="Google Shape;229;g31a085e5971_1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1a085e5971_1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3"/>
        <p:cNvGrpSpPr/>
        <p:nvPr/>
      </p:nvGrpSpPr>
      <p:grpSpPr>
        <a:xfrm>
          <a:off x="0" y="0"/>
          <a:ext cx="0" cy="0"/>
          <a:chOff x="0" y="0"/>
          <a:chExt cx="0" cy="0"/>
        </a:xfrm>
      </p:grpSpPr>
      <p:sp>
        <p:nvSpPr>
          <p:cNvPr id="264" name="Google Shape;264;g31b45f1ebc0_3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1b45f1ebc0_3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3"/>
        <p:cNvGrpSpPr/>
        <p:nvPr/>
      </p:nvGrpSpPr>
      <p:grpSpPr>
        <a:xfrm>
          <a:off x="0" y="0"/>
          <a:ext cx="0" cy="0"/>
          <a:chOff x="0" y="0"/>
          <a:chExt cx="0" cy="0"/>
        </a:xfrm>
      </p:grpSpPr>
      <p:sp>
        <p:nvSpPr>
          <p:cNvPr id="274" name="Google Shape;274;g31b45f1ebc0_3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1b45f1ebc0_3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3"/>
        <p:cNvGrpSpPr/>
        <p:nvPr/>
      </p:nvGrpSpPr>
      <p:grpSpPr>
        <a:xfrm>
          <a:off x="0" y="0"/>
          <a:ext cx="0" cy="0"/>
          <a:chOff x="0" y="0"/>
          <a:chExt cx="0" cy="0"/>
        </a:xfrm>
      </p:grpSpPr>
      <p:sp>
        <p:nvSpPr>
          <p:cNvPr id="294" name="Google Shape;294;g31aabe06dc4_4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1aabe06dc4_4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2"/>
        <p:cNvGrpSpPr/>
        <p:nvPr/>
      </p:nvGrpSpPr>
      <p:grpSpPr>
        <a:xfrm>
          <a:off x="0" y="0"/>
          <a:ext cx="0" cy="0"/>
          <a:chOff x="0" y="0"/>
          <a:chExt cx="0" cy="0"/>
        </a:xfrm>
      </p:grpSpPr>
      <p:sp>
        <p:nvSpPr>
          <p:cNvPr id="303" name="Google Shape;303;g31aabe06dc4_4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1aabe06dc4_4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0"/>
        <p:cNvGrpSpPr/>
        <p:nvPr/>
      </p:nvGrpSpPr>
      <p:grpSpPr>
        <a:xfrm>
          <a:off x="0" y="0"/>
          <a:ext cx="0" cy="0"/>
          <a:chOff x="0" y="0"/>
          <a:chExt cx="0" cy="0"/>
        </a:xfrm>
      </p:grpSpPr>
      <p:sp>
        <p:nvSpPr>
          <p:cNvPr id="321" name="Google Shape;321;g2d60d3c89c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d60d3c89c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3"/>
        <p:cNvGrpSpPr/>
        <p:nvPr/>
      </p:nvGrpSpPr>
      <p:grpSpPr>
        <a:xfrm>
          <a:off x="0" y="0"/>
          <a:ext cx="0" cy="0"/>
          <a:chOff x="0" y="0"/>
          <a:chExt cx="0" cy="0"/>
        </a:xfrm>
      </p:grpSpPr>
      <p:sp>
        <p:nvSpPr>
          <p:cNvPr id="334" name="Google Shape;334;g31a7b511e3e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1a7b511e3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g31a7b511e3e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1a7b511e3e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g31a7b511e3e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1a7b511e3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9"/>
        <p:cNvGrpSpPr/>
        <p:nvPr/>
      </p:nvGrpSpPr>
      <p:grpSpPr>
        <a:xfrm>
          <a:off x="0" y="0"/>
          <a:ext cx="0" cy="0"/>
          <a:chOff x="0" y="0"/>
          <a:chExt cx="0" cy="0"/>
        </a:xfrm>
      </p:grpSpPr>
      <p:sp>
        <p:nvSpPr>
          <p:cNvPr id="370" name="Google Shape;370;g31a7b511e3e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1a7b511e3e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9"/>
        <p:cNvGrpSpPr/>
        <p:nvPr/>
      </p:nvGrpSpPr>
      <p:grpSpPr>
        <a:xfrm>
          <a:off x="0" y="0"/>
          <a:ext cx="0" cy="0"/>
          <a:chOff x="0" y="0"/>
          <a:chExt cx="0" cy="0"/>
        </a:xfrm>
      </p:grpSpPr>
      <p:sp>
        <p:nvSpPr>
          <p:cNvPr id="380" name="Google Shape;380;g31a8c2fab3f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1a8c2fab3f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9"/>
        <p:cNvGrpSpPr/>
        <p:nvPr/>
      </p:nvGrpSpPr>
      <p:grpSpPr>
        <a:xfrm>
          <a:off x="0" y="0"/>
          <a:ext cx="0" cy="0"/>
          <a:chOff x="0" y="0"/>
          <a:chExt cx="0" cy="0"/>
        </a:xfrm>
      </p:grpSpPr>
      <p:sp>
        <p:nvSpPr>
          <p:cNvPr id="390" name="Google Shape;390;g31a8c2fab3f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1a8c2fab3f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9"/>
        <p:cNvGrpSpPr/>
        <p:nvPr/>
      </p:nvGrpSpPr>
      <p:grpSpPr>
        <a:xfrm>
          <a:off x="0" y="0"/>
          <a:ext cx="0" cy="0"/>
          <a:chOff x="0" y="0"/>
          <a:chExt cx="0" cy="0"/>
        </a:xfrm>
      </p:grpSpPr>
      <p:sp>
        <p:nvSpPr>
          <p:cNvPr id="400" name="Google Shape;400;g31a8c2fab3f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1a8c2fab3f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9"/>
        <p:cNvGrpSpPr/>
        <p:nvPr/>
      </p:nvGrpSpPr>
      <p:grpSpPr>
        <a:xfrm>
          <a:off x="0" y="0"/>
          <a:ext cx="0" cy="0"/>
          <a:chOff x="0" y="0"/>
          <a:chExt cx="0" cy="0"/>
        </a:xfrm>
      </p:grpSpPr>
      <p:sp>
        <p:nvSpPr>
          <p:cNvPr id="410" name="Google Shape;410;g31aabe06dc4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1aabe06dc4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20"/>
        <p:cNvGrpSpPr/>
        <p:nvPr/>
      </p:nvGrpSpPr>
      <p:grpSpPr>
        <a:xfrm>
          <a:off x="0" y="0"/>
          <a:ext cx="0" cy="0"/>
          <a:chOff x="0" y="0"/>
          <a:chExt cx="0" cy="0"/>
        </a:xfrm>
      </p:grpSpPr>
      <p:sp>
        <p:nvSpPr>
          <p:cNvPr id="421" name="Google Shape;421;g31aabe06dc4_6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1aabe06dc4_6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0"/>
        <p:cNvGrpSpPr/>
        <p:nvPr/>
      </p:nvGrpSpPr>
      <p:grpSpPr>
        <a:xfrm>
          <a:off x="0" y="0"/>
          <a:ext cx="0" cy="0"/>
          <a:chOff x="0" y="0"/>
          <a:chExt cx="0" cy="0"/>
        </a:xfrm>
      </p:grpSpPr>
      <p:sp>
        <p:nvSpPr>
          <p:cNvPr id="431" name="Google Shape;431;g31aabe06dc4_6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1aabe06dc4_6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42"/>
        <p:cNvGrpSpPr/>
        <p:nvPr/>
      </p:nvGrpSpPr>
      <p:grpSpPr>
        <a:xfrm>
          <a:off x="0" y="0"/>
          <a:ext cx="0" cy="0"/>
          <a:chOff x="0" y="0"/>
          <a:chExt cx="0" cy="0"/>
        </a:xfrm>
      </p:grpSpPr>
      <p:sp>
        <p:nvSpPr>
          <p:cNvPr id="443" name="Google Shape;443;g31a8c2fab3f_1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31a8c2fab3f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5"/>
        <p:cNvGrpSpPr/>
        <p:nvPr/>
      </p:nvGrpSpPr>
      <p:grpSpPr>
        <a:xfrm>
          <a:off x="0" y="0"/>
          <a:ext cx="0" cy="0"/>
          <a:chOff x="0" y="0"/>
          <a:chExt cx="0" cy="0"/>
        </a:xfrm>
      </p:grpSpPr>
      <p:sp>
        <p:nvSpPr>
          <p:cNvPr id="496" name="Google Shape;496;g31a8c2fab3f_1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1a8c2fab3f_1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6"/>
        <p:cNvGrpSpPr/>
        <p:nvPr/>
      </p:nvGrpSpPr>
      <p:grpSpPr>
        <a:xfrm>
          <a:off x="0" y="0"/>
          <a:ext cx="0" cy="0"/>
          <a:chOff x="0" y="0"/>
          <a:chExt cx="0" cy="0"/>
        </a:xfrm>
      </p:grpSpPr>
      <p:sp>
        <p:nvSpPr>
          <p:cNvPr id="507" name="Google Shape;507;g31a8c2fab3f_1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1a8c2fab3f_1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9"/>
        <p:cNvGrpSpPr/>
        <p:nvPr/>
      </p:nvGrpSpPr>
      <p:grpSpPr>
        <a:xfrm>
          <a:off x="0" y="0"/>
          <a:ext cx="0" cy="0"/>
          <a:chOff x="0" y="0"/>
          <a:chExt cx="0" cy="0"/>
        </a:xfrm>
      </p:grpSpPr>
      <p:sp>
        <p:nvSpPr>
          <p:cNvPr id="560" name="Google Shape;560;g31a8c2fab3f_1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1a8c2fab3f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0"/>
        <p:cNvGrpSpPr/>
        <p:nvPr/>
      </p:nvGrpSpPr>
      <p:grpSpPr>
        <a:xfrm>
          <a:off x="0" y="0"/>
          <a:ext cx="0" cy="0"/>
          <a:chOff x="0" y="0"/>
          <a:chExt cx="0" cy="0"/>
        </a:xfrm>
      </p:grpSpPr>
      <p:sp>
        <p:nvSpPr>
          <p:cNvPr id="571" name="Google Shape;571;g31a8c2fab3f_1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31a8c2fab3f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1"/>
        <p:cNvGrpSpPr/>
        <p:nvPr/>
      </p:nvGrpSpPr>
      <p:grpSpPr>
        <a:xfrm>
          <a:off x="0" y="0"/>
          <a:ext cx="0" cy="0"/>
          <a:chOff x="0" y="0"/>
          <a:chExt cx="0" cy="0"/>
        </a:xfrm>
      </p:grpSpPr>
      <p:sp>
        <p:nvSpPr>
          <p:cNvPr id="582" name="Google Shape;582;g31b57db88fe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1b57db88fe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3"/>
        <p:cNvGrpSpPr/>
        <p:nvPr/>
      </p:nvGrpSpPr>
      <p:grpSpPr>
        <a:xfrm>
          <a:off x="0" y="0"/>
          <a:ext cx="0" cy="0"/>
          <a:chOff x="0" y="0"/>
          <a:chExt cx="0" cy="0"/>
        </a:xfrm>
      </p:grpSpPr>
      <p:sp>
        <p:nvSpPr>
          <p:cNvPr id="594" name="Google Shape;594;g31aabe06dc4_4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31aabe06dc4_4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3"/>
        <p:cNvGrpSpPr/>
        <p:nvPr/>
      </p:nvGrpSpPr>
      <p:grpSpPr>
        <a:xfrm>
          <a:off x="0" y="0"/>
          <a:ext cx="0" cy="0"/>
          <a:chOff x="0" y="0"/>
          <a:chExt cx="0" cy="0"/>
        </a:xfrm>
      </p:grpSpPr>
      <p:sp>
        <p:nvSpPr>
          <p:cNvPr id="604" name="Google Shape;604;g31b57db88fe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31b57db88fe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2"/>
        <p:cNvGrpSpPr/>
        <p:nvPr/>
      </p:nvGrpSpPr>
      <p:grpSpPr>
        <a:xfrm>
          <a:off x="0" y="0"/>
          <a:ext cx="0" cy="0"/>
          <a:chOff x="0" y="0"/>
          <a:chExt cx="0" cy="0"/>
        </a:xfrm>
      </p:grpSpPr>
      <p:sp>
        <p:nvSpPr>
          <p:cNvPr id="613" name="Google Shape;613;g31b45f1ebc0_3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1b45f1ebc0_3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1"/>
        <p:cNvGrpSpPr/>
        <p:nvPr/>
      </p:nvGrpSpPr>
      <p:grpSpPr>
        <a:xfrm>
          <a:off x="0" y="0"/>
          <a:ext cx="0" cy="0"/>
          <a:chOff x="0" y="0"/>
          <a:chExt cx="0" cy="0"/>
        </a:xfrm>
      </p:grpSpPr>
      <p:sp>
        <p:nvSpPr>
          <p:cNvPr id="622" name="Google Shape;622;g2d60d3c89cb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2d60d3c89cb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9"/>
        <p:cNvGrpSpPr/>
        <p:nvPr/>
      </p:nvGrpSpPr>
      <p:grpSpPr>
        <a:xfrm>
          <a:off x="0" y="0"/>
          <a:ext cx="0" cy="0"/>
          <a:chOff x="0" y="0"/>
          <a:chExt cx="0" cy="0"/>
        </a:xfrm>
      </p:grpSpPr>
      <p:sp>
        <p:nvSpPr>
          <p:cNvPr id="630" name="Google Shape;630;g31a085e5971_1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1a085e5971_1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9" Type="http://schemas.microsoft.com/office/2007/relationships/media" Target="../media/audio4.wav"/><Relationship Id="rId8" Type="http://schemas.openxmlformats.org/officeDocument/2006/relationships/audio" Target="../media/audio4.wav"/><Relationship Id="rId7" Type="http://schemas.microsoft.com/office/2007/relationships/media" Target="../media/audio3.wav"/><Relationship Id="rId6" Type="http://schemas.openxmlformats.org/officeDocument/2006/relationships/audio" Target="../media/audio3.wav"/><Relationship Id="rId5" Type="http://schemas.microsoft.com/office/2007/relationships/media" Target="../media/audio2.wav"/><Relationship Id="rId4" Type="http://schemas.openxmlformats.org/officeDocument/2006/relationships/audio" Target="../media/audio2.wav"/><Relationship Id="rId3" Type="http://schemas.openxmlformats.org/officeDocument/2006/relationships/image" Target="../media/image1.png"/><Relationship Id="rId2" Type="http://schemas.microsoft.com/office/2007/relationships/media" Target="../media/audio1.wav"/><Relationship Id="rId11" Type="http://schemas.openxmlformats.org/officeDocument/2006/relationships/notesSlide" Target="../notesSlides/notesSlide6.xml"/><Relationship Id="rId10" Type="http://schemas.openxmlformats.org/officeDocument/2006/relationships/slideLayout" Target="../slideLayouts/slideLayout3.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3.xml"/><Relationship Id="rId7" Type="http://schemas.microsoft.com/office/2007/relationships/media" Target="../media/audio7.wav"/><Relationship Id="rId6" Type="http://schemas.openxmlformats.org/officeDocument/2006/relationships/audio" Target="../media/audio7.wav"/><Relationship Id="rId5" Type="http://schemas.microsoft.com/office/2007/relationships/media" Target="../media/audio6.wav"/><Relationship Id="rId4" Type="http://schemas.openxmlformats.org/officeDocument/2006/relationships/audio" Target="../media/audio6.wav"/><Relationship Id="rId3" Type="http://schemas.openxmlformats.org/officeDocument/2006/relationships/image" Target="../media/image1.png"/><Relationship Id="rId2" Type="http://schemas.microsoft.com/office/2007/relationships/media" Target="../media/audio5.wav"/><Relationship Id="rId1" Type="http://schemas.openxmlformats.org/officeDocument/2006/relationships/audio" Target="../media/audio5.wav"/></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microsoft.com/office/2007/relationships/media" Target="../media/audio9.wav"/><Relationship Id="rId8" Type="http://schemas.openxmlformats.org/officeDocument/2006/relationships/audio" Target="../media/audio9.wav"/><Relationship Id="rId7" Type="http://schemas.openxmlformats.org/officeDocument/2006/relationships/image" Target="../media/image1.png"/><Relationship Id="rId6" Type="http://schemas.microsoft.com/office/2007/relationships/media" Target="../media/audio8.wav"/><Relationship Id="rId5" Type="http://schemas.openxmlformats.org/officeDocument/2006/relationships/audio" Target="../media/audio8.wav"/><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1" Type="http://schemas.openxmlformats.org/officeDocument/2006/relationships/notesSlide" Target="../notesSlides/notesSlide10.xml"/><Relationship Id="rId10" Type="http://schemas.openxmlformats.org/officeDocument/2006/relationships/slideLayout" Target="../slideLayouts/slideLayout3.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9" Type="http://schemas.microsoft.com/office/2007/relationships/media" Target="../media/audio10.wav"/><Relationship Id="rId8" Type="http://schemas.openxmlformats.org/officeDocument/2006/relationships/audio" Target="../media/audio10.wav"/><Relationship Id="rId7" Type="http://schemas.openxmlformats.org/officeDocument/2006/relationships/image" Target="../media/image1.png"/><Relationship Id="rId6" Type="http://schemas.microsoft.com/office/2007/relationships/media" Target="../media/audio8.wav"/><Relationship Id="rId5" Type="http://schemas.openxmlformats.org/officeDocument/2006/relationships/audio" Target="../media/audio8.wav"/><Relationship Id="rId4" Type="http://schemas.openxmlformats.org/officeDocument/2006/relationships/image" Target="../media/image13.png"/><Relationship Id="rId3" Type="http://schemas.openxmlformats.org/officeDocument/2006/relationships/image" Target="../media/image7.png"/><Relationship Id="rId2" Type="http://schemas.openxmlformats.org/officeDocument/2006/relationships/image" Target="../media/image12.png"/><Relationship Id="rId11" Type="http://schemas.openxmlformats.org/officeDocument/2006/relationships/notesSlide" Target="../notesSlides/notesSlide11.xml"/><Relationship Id="rId10" Type="http://schemas.openxmlformats.org/officeDocument/2006/relationships/slideLayout" Target="../slideLayouts/slideLayout3.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3.xml"/><Relationship Id="rId5" Type="http://schemas.microsoft.com/office/2007/relationships/media" Target="../media/audio11.wav"/><Relationship Id="rId4" Type="http://schemas.openxmlformats.org/officeDocument/2006/relationships/audio" Target="../media/audio11.wav"/><Relationship Id="rId3" Type="http://schemas.openxmlformats.org/officeDocument/2006/relationships/image" Target="../media/image1.png"/><Relationship Id="rId2" Type="http://schemas.microsoft.com/office/2007/relationships/media" Target="../media/audio9.wav"/><Relationship Id="rId1" Type="http://schemas.openxmlformats.org/officeDocument/2006/relationships/audio" Target="../media/audio9.wav"/></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3.xml"/><Relationship Id="rId7" Type="http://schemas.microsoft.com/office/2007/relationships/media" Target="../media/audio14.wav"/><Relationship Id="rId6" Type="http://schemas.openxmlformats.org/officeDocument/2006/relationships/audio" Target="../media/audio14.wav"/><Relationship Id="rId5" Type="http://schemas.microsoft.com/office/2007/relationships/media" Target="../media/audio13.wav"/><Relationship Id="rId4" Type="http://schemas.openxmlformats.org/officeDocument/2006/relationships/audio" Target="../media/audio13.wav"/><Relationship Id="rId3" Type="http://schemas.openxmlformats.org/officeDocument/2006/relationships/image" Target="../media/image1.png"/><Relationship Id="rId2" Type="http://schemas.microsoft.com/office/2007/relationships/media" Target="../media/audio12.wav"/><Relationship Id="rId1" Type="http://schemas.openxmlformats.org/officeDocument/2006/relationships/audio" Target="../media/audio12.wav"/></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microsoft.com/office/2007/relationships/media" Target="../media/audio17.wav"/><Relationship Id="rId7" Type="http://schemas.openxmlformats.org/officeDocument/2006/relationships/audio" Target="../media/audio17.wav"/><Relationship Id="rId6" Type="http://schemas.microsoft.com/office/2007/relationships/media" Target="../media/audio16.wav"/><Relationship Id="rId5" Type="http://schemas.openxmlformats.org/officeDocument/2006/relationships/audio" Target="../media/audio16.wav"/><Relationship Id="rId4" Type="http://schemas.openxmlformats.org/officeDocument/2006/relationships/image" Target="../media/image1.png"/><Relationship Id="rId3" Type="http://schemas.microsoft.com/office/2007/relationships/media" Target="../media/audio15.wav"/><Relationship Id="rId2" Type="http://schemas.openxmlformats.org/officeDocument/2006/relationships/audio" Target="../media/audio15.wav"/><Relationship Id="rId10" Type="http://schemas.openxmlformats.org/officeDocument/2006/relationships/notesSlide" Target="../notesSlides/notesSlide19.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3.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3.xml"/><Relationship Id="rId2" Type="http://schemas.openxmlformats.org/officeDocument/2006/relationships/image" Target="../media/image34.png"/><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3.xml"/><Relationship Id="rId2" Type="http://schemas.openxmlformats.org/officeDocument/2006/relationships/image" Target="../media/image36.png"/><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3.xml"/><Relationship Id="rId2" Type="http://schemas.openxmlformats.org/officeDocument/2006/relationships/image" Target="../media/image38.png"/><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3.xml"/><Relationship Id="rId2" Type="http://schemas.openxmlformats.org/officeDocument/2006/relationships/image" Target="../media/image40.png"/><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9" Type="http://schemas.openxmlformats.org/officeDocument/2006/relationships/hyperlink" Target="https://arxiv.org/abs/1706.03762" TargetMode="External"/><Relationship Id="rId8" Type="http://schemas.openxmlformats.org/officeDocument/2006/relationships/hyperlink" Target="https://doi.org/10.48550/arXiv.1905.04874" TargetMode="External"/><Relationship Id="rId7" Type="http://schemas.openxmlformats.org/officeDocument/2006/relationships/hyperlink" Target="http://arxiv.org/abs/1703.09452" TargetMode="External"/><Relationship Id="rId6" Type="http://schemas.openxmlformats.org/officeDocument/2006/relationships/hyperlink" Target="https://doi.org/10.1109/SEB-SDG57117.2023.10124385" TargetMode="External"/><Relationship Id="rId5" Type="http://schemas.openxmlformats.org/officeDocument/2006/relationships/hyperlink" Target="https://doi.org/10.1109/TASLP.2024.3468026" TargetMode="External"/><Relationship Id="rId4" Type="http://schemas.openxmlformats.org/officeDocument/2006/relationships/hyperlink" Target="https://arxiv.org/abs/2106.07447" TargetMode="External"/><Relationship Id="rId3" Type="http://schemas.openxmlformats.org/officeDocument/2006/relationships/hyperlink" Target="https://arxiv.org/abs/1810.04805" TargetMode="External"/><Relationship Id="rId2" Type="http://schemas.openxmlformats.org/officeDocument/2006/relationships/hyperlink" Target="https://arxiv.org/abs/2110.13900" TargetMode="External"/><Relationship Id="rId11" Type="http://schemas.openxmlformats.org/officeDocument/2006/relationships/notesSlide" Target="../notesSlides/notesSlide40.xml"/><Relationship Id="rId10" Type="http://schemas.openxmlformats.org/officeDocument/2006/relationships/slideLayout" Target="../slideLayouts/slideLayout11.xml"/><Relationship Id="rId1" Type="http://schemas.openxmlformats.org/officeDocument/2006/relationships/hyperlink" Target="http://arxiv.org/abs/2006.1147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0"/>
            <a:ext cx="9144000" cy="28341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5" name="Google Shape;55;p13"/>
          <p:cNvSpPr txBox="1">
            <a:spLocks noGrp="1"/>
          </p:cNvSpPr>
          <p:nvPr>
            <p:ph type="ctrTitle"/>
          </p:nvPr>
        </p:nvSpPr>
        <p:spPr>
          <a:xfrm>
            <a:off x="311708" y="5928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solidFill>
                  <a:schemeClr val="lt1"/>
                </a:solidFill>
              </a:rPr>
              <a:t>Emotion Analysis in a</a:t>
            </a:r>
            <a:endParaRPr>
              <a:solidFill>
                <a:schemeClr val="lt1"/>
              </a:solidFill>
            </a:endParaRPr>
          </a:p>
          <a:p>
            <a:pPr marL="0" lvl="0" indent="0" algn="ctr" rtl="0">
              <a:spcBef>
                <a:spcPts val="0"/>
              </a:spcBef>
              <a:spcAft>
                <a:spcPts val="0"/>
              </a:spcAft>
              <a:buNone/>
            </a:pPr>
            <a:r>
              <a:rPr lang="en-GB">
                <a:solidFill>
                  <a:schemeClr val="lt1"/>
                </a:solidFill>
              </a:rPr>
              <a:t>Noisy Environment</a:t>
            </a:r>
            <a:endParaRPr>
              <a:solidFill>
                <a:schemeClr val="lt1"/>
              </a:solidFill>
            </a:endParaRPr>
          </a:p>
        </p:txBody>
      </p:sp>
      <p:sp>
        <p:nvSpPr>
          <p:cNvPr id="56" name="Google Shape;56;p13"/>
          <p:cNvSpPr txBox="1">
            <a:spLocks noGrp="1"/>
          </p:cNvSpPr>
          <p:nvPr>
            <p:ph type="subTitle" idx="1"/>
          </p:nvPr>
        </p:nvSpPr>
        <p:spPr>
          <a:xfrm>
            <a:off x="1657500" y="2972025"/>
            <a:ext cx="58290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GB">
                <a:solidFill>
                  <a:schemeClr val="dk1"/>
                </a:solidFill>
              </a:rPr>
              <a:t>Samuel Bentlin, Harshith Chennupati, Mingrui Liang, JiaHao Lu</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2" name="Google Shape;62;p14"/>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Overview</a:t>
            </a:r>
            <a:endParaRPr sz="3000" b="1">
              <a:solidFill>
                <a:schemeClr val="lt1"/>
              </a:solidFill>
            </a:endParaRPr>
          </a:p>
        </p:txBody>
      </p:sp>
      <p:sp>
        <p:nvSpPr>
          <p:cNvPr id="63" name="Google Shape;63;p14"/>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Background</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Problem Set Up</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Denoising Problem</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Multimodal Problem</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Demonstration</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Findings / Future Research</a:t>
            </a:r>
            <a:endParaRPr>
              <a:solidFill>
                <a:schemeClr val="dk1"/>
              </a:solidFill>
            </a:endParaRPr>
          </a:p>
        </p:txBody>
      </p:sp>
      <p:sp>
        <p:nvSpPr>
          <p:cNvPr id="64" name="Google Shape;64;p14"/>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a:t>
            </a:r>
            <a:endParaRPr lang="en-GB">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fld>
            <a:endParaRPr lang="en-GB"/>
          </a:p>
        </p:txBody>
      </p:sp>
      <p:sp>
        <p:nvSpPr>
          <p:cNvPr id="71" name="Google Shape;71;p15"/>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72" name="Google Shape;72;p15"/>
          <p:cNvSpPr txBox="1">
            <a:spLocks noGrp="1"/>
          </p:cNvSpPr>
          <p:nvPr>
            <p:ph type="title" idx="4294967295"/>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Background</a:t>
            </a:r>
            <a:endParaRPr sz="3000" b="1">
              <a:solidFill>
                <a:schemeClr val="lt1"/>
              </a:solidFill>
            </a:endParaRPr>
          </a:p>
        </p:txBody>
      </p:sp>
      <p:sp>
        <p:nvSpPr>
          <p:cNvPr id="73" name="Google Shape;73;p15"/>
          <p:cNvSpPr txBox="1">
            <a:spLocks noGrp="1"/>
          </p:cNvSpPr>
          <p:nvPr>
            <p:ph type="body" idx="4294967295"/>
          </p:nvPr>
        </p:nvSpPr>
        <p:spPr>
          <a:xfrm>
            <a:off x="0" y="1061400"/>
            <a:ext cx="78369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Emotion analysis</a:t>
            </a:r>
            <a:endParaRPr>
              <a:solidFill>
                <a:schemeClr val="dk1"/>
              </a:solidFill>
            </a:endParaRPr>
          </a:p>
          <a:p>
            <a:pPr marL="914400" lvl="1" indent="-342900" algn="l" rtl="0">
              <a:spcBef>
                <a:spcPts val="0"/>
              </a:spcBef>
              <a:spcAft>
                <a:spcPts val="0"/>
              </a:spcAft>
              <a:buClr>
                <a:schemeClr val="dk1"/>
              </a:buClr>
              <a:buSzPts val="1800"/>
              <a:buChar char="-"/>
            </a:pPr>
            <a:r>
              <a:rPr lang="en-GB">
                <a:solidFill>
                  <a:schemeClr val="dk1"/>
                </a:solidFill>
              </a:rPr>
              <a:t>Using </a:t>
            </a:r>
            <a:r>
              <a:rPr lang="en-GB" b="1">
                <a:solidFill>
                  <a:schemeClr val="dk1"/>
                </a:solidFill>
              </a:rPr>
              <a:t>natural language processing, text analysis, and computational linguistics</a:t>
            </a:r>
            <a:r>
              <a:rPr lang="en-GB">
                <a:solidFill>
                  <a:schemeClr val="dk1"/>
                </a:solidFill>
              </a:rPr>
              <a:t> to </a:t>
            </a:r>
            <a:r>
              <a:rPr lang="en-GB" b="1">
                <a:solidFill>
                  <a:schemeClr val="dk1"/>
                </a:solidFill>
              </a:rPr>
              <a:t>identify</a:t>
            </a:r>
            <a:r>
              <a:rPr lang="en-GB">
                <a:solidFill>
                  <a:schemeClr val="dk1"/>
                </a:solidFill>
              </a:rPr>
              <a:t>, quantify, and study affective states and subjective information</a:t>
            </a:r>
            <a:endParaRPr>
              <a:solidFill>
                <a:schemeClr val="dk1"/>
              </a:solidFill>
            </a:endParaRPr>
          </a:p>
        </p:txBody>
      </p:sp>
      <p:sp>
        <p:nvSpPr>
          <p:cNvPr id="74" name="Google Shape;74;p15"/>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75" name="Google Shape;7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fld>
            <a:endParaRPr lang="en-GB"/>
          </a:p>
        </p:txBody>
      </p:sp>
      <p:sp>
        <p:nvSpPr>
          <p:cNvPr id="81" name="Google Shape;81;p16"/>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2" name="Google Shape;82;p16"/>
          <p:cNvSpPr txBox="1">
            <a:spLocks noGrp="1"/>
          </p:cNvSpPr>
          <p:nvPr>
            <p:ph type="title" idx="4294967295"/>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Motivation</a:t>
            </a:r>
            <a:endParaRPr sz="3000" b="1">
              <a:solidFill>
                <a:schemeClr val="lt1"/>
              </a:solidFill>
            </a:endParaRPr>
          </a:p>
        </p:txBody>
      </p:sp>
      <p:sp>
        <p:nvSpPr>
          <p:cNvPr id="83" name="Google Shape;83;p16"/>
          <p:cNvSpPr txBox="1">
            <a:spLocks noGrp="1"/>
          </p:cNvSpPr>
          <p:nvPr>
            <p:ph type="body" idx="4294967295"/>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Existing emotion analysis research typically includes low noise</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Noise is a problem for emotion classification, especially in deep learning based techniques which are especially susceptible to noise</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Goal:</a:t>
            </a:r>
            <a:r>
              <a:rPr lang="en-GB">
                <a:solidFill>
                  <a:schemeClr val="dk1"/>
                </a:solidFill>
              </a:rPr>
              <a:t> Develop a more robust framework that performs better under noisy conditions</a:t>
            </a:r>
            <a:endParaRPr>
              <a:solidFill>
                <a:schemeClr val="dk1"/>
              </a:solidFill>
            </a:endParaRPr>
          </a:p>
          <a:p>
            <a:pPr marL="457200" lvl="0" indent="0" algn="l" rtl="0">
              <a:spcBef>
                <a:spcPts val="1200"/>
              </a:spcBef>
              <a:spcAft>
                <a:spcPts val="1200"/>
              </a:spcAft>
              <a:buNone/>
            </a:pPr>
            <a:endParaRPr>
              <a:solidFill>
                <a:schemeClr val="dk1"/>
              </a:solidFill>
            </a:endParaRPr>
          </a:p>
        </p:txBody>
      </p:sp>
      <p:sp>
        <p:nvSpPr>
          <p:cNvPr id="84" name="Google Shape;84;p16"/>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5" name="Google Shape;8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4</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p:nvPr/>
        </p:nvSpPr>
        <p:spPr>
          <a:xfrm>
            <a:off x="0" y="38"/>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91" name="Google Shape;91;p17"/>
          <p:cNvSpPr txBox="1">
            <a:spLocks noGrp="1"/>
          </p:cNvSpPr>
          <p:nvPr>
            <p:ph type="title"/>
          </p:nvPr>
        </p:nvSpPr>
        <p:spPr>
          <a:xfrm>
            <a:off x="104875" y="42941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Problem Set Up</a:t>
            </a:r>
            <a:endParaRPr sz="3000" b="1">
              <a:solidFill>
                <a:schemeClr val="lt1"/>
              </a:solidFill>
            </a:endParaRPr>
          </a:p>
        </p:txBody>
      </p:sp>
      <p:sp>
        <p:nvSpPr>
          <p:cNvPr id="92" name="Google Shape;92;p17"/>
          <p:cNvSpPr/>
          <p:nvPr/>
        </p:nvSpPr>
        <p:spPr>
          <a:xfrm>
            <a:off x="0" y="4703663"/>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93" name="Google Shape;93;p17"/>
          <p:cNvSpPr txBox="1">
            <a:spLocks noGrp="1"/>
          </p:cNvSpPr>
          <p:nvPr>
            <p:ph type="sldNum" idx="12"/>
          </p:nvPr>
        </p:nvSpPr>
        <p:spPr>
          <a:xfrm>
            <a:off x="8472458" y="4663254"/>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5</a:t>
            </a:r>
            <a:endParaRPr lang="en-GB">
              <a:solidFill>
                <a:schemeClr val="lt1"/>
              </a:solidFill>
            </a:endParaRPr>
          </a:p>
        </p:txBody>
      </p:sp>
      <p:sp>
        <p:nvSpPr>
          <p:cNvPr id="94" name="Google Shape;94;p17"/>
          <p:cNvSpPr txBox="1"/>
          <p:nvPr/>
        </p:nvSpPr>
        <p:spPr>
          <a:xfrm>
            <a:off x="473200" y="2268996"/>
            <a:ext cx="1473000" cy="16338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Original</a:t>
            </a: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r>
              <a:rPr lang="en-GB" sz="1800">
                <a:solidFill>
                  <a:schemeClr val="dk1"/>
                </a:solidFill>
              </a:rPr>
              <a:t>Get Baseline</a:t>
            </a:r>
            <a:endParaRPr sz="1500">
              <a:solidFill>
                <a:schemeClr val="dk1"/>
              </a:solidFill>
            </a:endParaRPr>
          </a:p>
        </p:txBody>
      </p:sp>
      <p:sp>
        <p:nvSpPr>
          <p:cNvPr id="95" name="Google Shape;95;p17"/>
          <p:cNvSpPr txBox="1"/>
          <p:nvPr/>
        </p:nvSpPr>
        <p:spPr>
          <a:xfrm>
            <a:off x="473200" y="1314138"/>
            <a:ext cx="4853700" cy="784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“Easier” Dataset</a:t>
            </a:r>
            <a:endParaRPr sz="1800">
              <a:solidFill>
                <a:schemeClr val="dk1"/>
              </a:solidFill>
            </a:endParaRPr>
          </a:p>
        </p:txBody>
      </p:sp>
      <p:sp>
        <p:nvSpPr>
          <p:cNvPr id="96" name="Google Shape;96;p17"/>
          <p:cNvSpPr txBox="1"/>
          <p:nvPr/>
        </p:nvSpPr>
        <p:spPr>
          <a:xfrm>
            <a:off x="5507475" y="1314138"/>
            <a:ext cx="3163200" cy="784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“Harder” Dataset</a:t>
            </a:r>
            <a:endParaRPr sz="1800">
              <a:solidFill>
                <a:schemeClr val="dk1"/>
              </a:solidFill>
            </a:endParaRPr>
          </a:p>
        </p:txBody>
      </p:sp>
      <p:sp>
        <p:nvSpPr>
          <p:cNvPr id="97" name="Google Shape;97;p17"/>
          <p:cNvSpPr txBox="1"/>
          <p:nvPr/>
        </p:nvSpPr>
        <p:spPr>
          <a:xfrm>
            <a:off x="2163500" y="2268997"/>
            <a:ext cx="1473000" cy="16338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Add noise</a:t>
            </a: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r>
              <a:rPr lang="en-GB" sz="1800">
                <a:solidFill>
                  <a:schemeClr val="dk1"/>
                </a:solidFill>
              </a:rPr>
              <a:t>Diminish Accuracy</a:t>
            </a:r>
            <a:endParaRPr sz="1800">
              <a:solidFill>
                <a:schemeClr val="dk1"/>
              </a:solidFill>
            </a:endParaRPr>
          </a:p>
        </p:txBody>
      </p:sp>
      <p:sp>
        <p:nvSpPr>
          <p:cNvPr id="98" name="Google Shape;98;p17"/>
          <p:cNvSpPr txBox="1"/>
          <p:nvPr/>
        </p:nvSpPr>
        <p:spPr>
          <a:xfrm>
            <a:off x="3817175" y="2268996"/>
            <a:ext cx="1473000" cy="16338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Denoise</a:t>
            </a: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r>
              <a:rPr lang="en-GB" sz="1800">
                <a:solidFill>
                  <a:schemeClr val="dk1"/>
                </a:solidFill>
              </a:rPr>
              <a:t>Recover Accuracy</a:t>
            </a:r>
            <a:endParaRPr sz="1800">
              <a:solidFill>
                <a:schemeClr val="dk1"/>
              </a:solidFill>
            </a:endParaRPr>
          </a:p>
        </p:txBody>
      </p:sp>
      <p:sp>
        <p:nvSpPr>
          <p:cNvPr id="99" name="Google Shape;99;p17"/>
          <p:cNvSpPr txBox="1"/>
          <p:nvPr/>
        </p:nvSpPr>
        <p:spPr>
          <a:xfrm>
            <a:off x="5507475" y="2268996"/>
            <a:ext cx="1473000" cy="16338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Original</a:t>
            </a: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r>
              <a:rPr lang="en-GB" sz="1800">
                <a:solidFill>
                  <a:schemeClr val="dk1"/>
                </a:solidFill>
              </a:rPr>
              <a:t>Get Baseline</a:t>
            </a:r>
            <a:endParaRPr sz="1500">
              <a:solidFill>
                <a:schemeClr val="dk1"/>
              </a:solidFill>
            </a:endParaRPr>
          </a:p>
        </p:txBody>
      </p:sp>
      <p:sp>
        <p:nvSpPr>
          <p:cNvPr id="100" name="Google Shape;100;p17"/>
          <p:cNvSpPr txBox="1"/>
          <p:nvPr/>
        </p:nvSpPr>
        <p:spPr>
          <a:xfrm>
            <a:off x="7197775" y="2268996"/>
            <a:ext cx="1473000" cy="16338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solidFill>
                  <a:schemeClr val="dk1"/>
                </a:solidFill>
              </a:rPr>
              <a:t>Original</a:t>
            </a: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endParaRPr sz="1800">
              <a:solidFill>
                <a:schemeClr val="dk1"/>
              </a:solidFill>
            </a:endParaRPr>
          </a:p>
          <a:p>
            <a:pPr marL="0" lvl="0" indent="0" algn="ctr" rtl="0">
              <a:spcBef>
                <a:spcPts val="0"/>
              </a:spcBef>
              <a:spcAft>
                <a:spcPts val="0"/>
              </a:spcAft>
              <a:buNone/>
            </a:pPr>
            <a:r>
              <a:rPr lang="en-GB" sz="1800">
                <a:solidFill>
                  <a:schemeClr val="dk1"/>
                </a:solidFill>
              </a:rPr>
              <a:t>Improve Accuracy</a:t>
            </a:r>
            <a:endParaRPr sz="1800">
              <a:solidFill>
                <a:schemeClr val="dk1"/>
              </a:solidFill>
            </a:endParaRPr>
          </a:p>
        </p:txBody>
      </p:sp>
      <p:sp>
        <p:nvSpPr>
          <p:cNvPr id="101" name="Google Shape;101;p17"/>
          <p:cNvSpPr/>
          <p:nvPr/>
        </p:nvSpPr>
        <p:spPr>
          <a:xfrm>
            <a:off x="1012900" y="2795375"/>
            <a:ext cx="393600" cy="393600"/>
          </a:xfrm>
          <a:prstGeom prst="mathMin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2" name="Google Shape;102;p17"/>
          <p:cNvSpPr/>
          <p:nvPr/>
        </p:nvSpPr>
        <p:spPr>
          <a:xfrm rot="10800000">
            <a:off x="2800988" y="2830935"/>
            <a:ext cx="161400" cy="322500"/>
          </a:xfrm>
          <a:prstGeom prst="upArrow">
            <a:avLst>
              <a:gd name="adj1" fmla="val 50000"/>
              <a:gd name="adj2" fmla="val 50000"/>
            </a:avLst>
          </a:prstGeom>
          <a:solidFill>
            <a:srgbClr val="FF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3" name="Google Shape;103;p17"/>
          <p:cNvSpPr/>
          <p:nvPr/>
        </p:nvSpPr>
        <p:spPr>
          <a:xfrm>
            <a:off x="7853575" y="2830935"/>
            <a:ext cx="161400" cy="322500"/>
          </a:xfrm>
          <a:prstGeom prst="upArrow">
            <a:avLst>
              <a:gd name="adj1" fmla="val 50000"/>
              <a:gd name="adj2" fmla="val 50000"/>
            </a:avLst>
          </a:prstGeom>
          <a:solidFill>
            <a:srgbClr val="38761D"/>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4" name="Google Shape;104;p17"/>
          <p:cNvSpPr/>
          <p:nvPr/>
        </p:nvSpPr>
        <p:spPr>
          <a:xfrm>
            <a:off x="6047175" y="2795375"/>
            <a:ext cx="393600" cy="393600"/>
          </a:xfrm>
          <a:prstGeom prst="mathMin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05" name="Google Shape;105;p17"/>
          <p:cNvSpPr/>
          <p:nvPr/>
        </p:nvSpPr>
        <p:spPr>
          <a:xfrm>
            <a:off x="4491288" y="2830935"/>
            <a:ext cx="161400" cy="322500"/>
          </a:xfrm>
          <a:prstGeom prst="upArrow">
            <a:avLst>
              <a:gd name="adj1" fmla="val 50000"/>
              <a:gd name="adj2" fmla="val 50000"/>
            </a:avLst>
          </a:prstGeom>
          <a:solidFill>
            <a:srgbClr val="38761D"/>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1" name="Google Shape;111;p18"/>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RAVDESS Dataset</a:t>
            </a:r>
            <a:endParaRPr sz="3000" b="1">
              <a:solidFill>
                <a:schemeClr val="lt1"/>
              </a:solidFill>
            </a:endParaRPr>
          </a:p>
        </p:txBody>
      </p:sp>
      <p:sp>
        <p:nvSpPr>
          <p:cNvPr id="112" name="Google Shape;112;p18"/>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13" name="Google Shape;11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6</a:t>
            </a:r>
            <a:endParaRPr lang="en-GB">
              <a:solidFill>
                <a:schemeClr val="lt1"/>
              </a:solidFill>
            </a:endParaRPr>
          </a:p>
        </p:txBody>
      </p:sp>
      <p:sp>
        <p:nvSpPr>
          <p:cNvPr id="114" name="Google Shape;114;p18"/>
          <p:cNvSpPr txBox="1"/>
          <p:nvPr/>
        </p:nvSpPr>
        <p:spPr>
          <a:xfrm>
            <a:off x="0" y="1061400"/>
            <a:ext cx="4332000" cy="15102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Char char="-"/>
            </a:pPr>
            <a:r>
              <a:rPr lang="en-GB" dirty="0">
                <a:solidFill>
                  <a:schemeClr val="dk1"/>
                </a:solidFill>
              </a:rPr>
              <a:t>1440 audio recordings</a:t>
            </a:r>
            <a:endParaRPr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GB" dirty="0">
                <a:solidFill>
                  <a:schemeClr val="dk1"/>
                </a:solidFill>
              </a:rPr>
              <a:t>24 professional actors (12 m, 12 f)</a:t>
            </a:r>
            <a:endParaRPr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GB" dirty="0">
                <a:solidFill>
                  <a:schemeClr val="dk1"/>
                </a:solidFill>
              </a:rPr>
              <a:t>60 speeches per actor</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GB" dirty="0">
                <a:solidFill>
                  <a:schemeClr val="dk1"/>
                </a:solidFill>
              </a:rPr>
              <a:t>8 emotions</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GB" dirty="0">
                <a:solidFill>
                  <a:schemeClr val="dk1"/>
                </a:solidFill>
              </a:rPr>
              <a:t>1 of 2 statements…</a:t>
            </a:r>
            <a:endParaRPr dirty="0">
              <a:solidFill>
                <a:schemeClr val="dk1"/>
              </a:solidFill>
            </a:endParaRPr>
          </a:p>
          <a:p>
            <a:pPr marL="0" lvl="0" indent="0" algn="l" rtl="0">
              <a:lnSpc>
                <a:spcPct val="115000"/>
              </a:lnSpc>
              <a:spcBef>
                <a:spcPts val="1200"/>
              </a:spcBef>
              <a:spcAft>
                <a:spcPts val="0"/>
              </a:spcAft>
              <a:buNone/>
            </a:pPr>
            <a:endParaRPr sz="1600" dirty="0">
              <a:solidFill>
                <a:schemeClr val="dk1"/>
              </a:solidFill>
            </a:endParaRPr>
          </a:p>
          <a:p>
            <a:pPr marL="0" lvl="0" indent="0" algn="l" rtl="0">
              <a:lnSpc>
                <a:spcPct val="115000"/>
              </a:lnSpc>
              <a:spcBef>
                <a:spcPts val="1200"/>
              </a:spcBef>
              <a:spcAft>
                <a:spcPts val="1200"/>
              </a:spcAft>
              <a:buNone/>
            </a:pPr>
            <a:endParaRPr sz="1600" dirty="0">
              <a:solidFill>
                <a:schemeClr val="dk1"/>
              </a:solidFill>
            </a:endParaRPr>
          </a:p>
        </p:txBody>
      </p:sp>
      <p:graphicFrame>
        <p:nvGraphicFramePr>
          <p:cNvPr id="115" name="Google Shape;115;p18"/>
          <p:cNvGraphicFramePr/>
          <p:nvPr/>
        </p:nvGraphicFramePr>
        <p:xfrm>
          <a:off x="4714025" y="1967900"/>
          <a:ext cx="4013100" cy="1671550"/>
        </p:xfrm>
        <a:graphic>
          <a:graphicData uri="http://schemas.openxmlformats.org/drawingml/2006/table">
            <a:tbl>
              <a:tblPr>
                <a:noFill/>
                <a:tableStyleId>{97FB59A7-EC65-4619-BF9D-75ABF18B6576}</a:tableStyleId>
              </a:tblPr>
              <a:tblGrid>
                <a:gridCol w="1003275"/>
                <a:gridCol w="1003275"/>
                <a:gridCol w="1003275"/>
                <a:gridCol w="1003275"/>
              </a:tblGrid>
              <a:tr h="835775">
                <a:tc>
                  <a:txBody>
                    <a:bodyPr/>
                    <a:lstStyle/>
                    <a:p>
                      <a:pPr marL="0" lvl="0" indent="0" algn="ctr" rtl="0">
                        <a:spcBef>
                          <a:spcPts val="0"/>
                        </a:spcBef>
                        <a:spcAft>
                          <a:spcPts val="0"/>
                        </a:spcAft>
                        <a:buNone/>
                      </a:pPr>
                      <a:r>
                        <a:rPr lang="en-GB" b="1"/>
                        <a:t>Neutral</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b="1"/>
                        <a:t>Calm</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b="1"/>
                        <a:t>Happy</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b="1"/>
                        <a:t>Sad</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r>
              <a:tr h="835775">
                <a:tc>
                  <a:txBody>
                    <a:bodyPr/>
                    <a:lstStyle/>
                    <a:p>
                      <a:pPr marL="0" lvl="0" indent="0" algn="ctr" rtl="0">
                        <a:spcBef>
                          <a:spcPts val="0"/>
                        </a:spcBef>
                        <a:spcAft>
                          <a:spcPts val="0"/>
                        </a:spcAft>
                        <a:buNone/>
                      </a:pPr>
                      <a:r>
                        <a:rPr lang="en-GB" b="1"/>
                        <a:t>Angry</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b="1"/>
                        <a:t>Fearful</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b="1"/>
                        <a:t>Surprise</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b="1"/>
                        <a:t>Disgust</a:t>
                      </a:r>
                      <a:endParaRPr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r>
            </a:tbl>
          </a:graphicData>
        </a:graphic>
      </p:graphicFrame>
      <p:sp>
        <p:nvSpPr>
          <p:cNvPr id="116" name="Google Shape;116;p18"/>
          <p:cNvSpPr txBox="1"/>
          <p:nvPr/>
        </p:nvSpPr>
        <p:spPr>
          <a:xfrm>
            <a:off x="4695702" y="1504050"/>
            <a:ext cx="4013100" cy="43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b="1">
                <a:solidFill>
                  <a:schemeClr val="dk1"/>
                </a:solidFill>
              </a:rPr>
              <a:t>Emotions</a:t>
            </a:r>
            <a:endParaRPr sz="1800" b="1">
              <a:solidFill>
                <a:schemeClr val="dk1"/>
              </a:solidFill>
            </a:endParaRPr>
          </a:p>
        </p:txBody>
      </p:sp>
      <p:sp>
        <p:nvSpPr>
          <p:cNvPr id="117" name="Google Shape;117;p18"/>
          <p:cNvSpPr txBox="1"/>
          <p:nvPr/>
        </p:nvSpPr>
        <p:spPr>
          <a:xfrm>
            <a:off x="223725" y="2690845"/>
            <a:ext cx="4227000" cy="9486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800" b="1">
                <a:solidFill>
                  <a:schemeClr val="dk1"/>
                </a:solidFill>
              </a:rPr>
              <a:t>1) “Kids are talking by the door”</a:t>
            </a:r>
            <a:endParaRPr sz="1800" b="1">
              <a:solidFill>
                <a:schemeClr val="dk1"/>
              </a:solidFill>
            </a:endParaRPr>
          </a:p>
          <a:p>
            <a:pPr marL="0" lvl="0" indent="0" algn="ctr" rtl="0">
              <a:lnSpc>
                <a:spcPct val="115000"/>
              </a:lnSpc>
              <a:spcBef>
                <a:spcPts val="1200"/>
              </a:spcBef>
              <a:spcAft>
                <a:spcPts val="1200"/>
              </a:spcAft>
              <a:buNone/>
            </a:pPr>
            <a:r>
              <a:rPr lang="en-GB" sz="1800" b="1">
                <a:solidFill>
                  <a:schemeClr val="dk1"/>
                </a:solidFill>
              </a:rPr>
              <a:t>2) “Dogs are sitting by the door”</a:t>
            </a:r>
            <a:endParaRPr sz="1800" b="1">
              <a:solidFill>
                <a:schemeClr val="dk1"/>
              </a:solidFill>
            </a:endParaRPr>
          </a:p>
        </p:txBody>
      </p:sp>
      <p:sp>
        <p:nvSpPr>
          <p:cNvPr id="118" name="Google Shape;118;p18"/>
          <p:cNvSpPr txBox="1"/>
          <p:nvPr/>
        </p:nvSpPr>
        <p:spPr>
          <a:xfrm>
            <a:off x="284350" y="3981500"/>
            <a:ext cx="8442900" cy="492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GB" sz="2000" b="1">
                <a:solidFill>
                  <a:schemeClr val="dk1"/>
                </a:solidFill>
              </a:rPr>
              <a:t>Examples:   A) Happy          B) Sad          C) Fearful          D) Disgust</a:t>
            </a:r>
            <a:endParaRPr sz="2000" b="1">
              <a:solidFill>
                <a:schemeClr val="dk1"/>
              </a:solidFill>
            </a:endParaRPr>
          </a:p>
        </p:txBody>
      </p:sp>
      <p:pic>
        <p:nvPicPr>
          <p:cNvPr id="2" name="03-01-03-02-01-01-01.wav">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2999210" y="3981497"/>
            <a:ext cx="595112" cy="595112"/>
          </a:xfrm>
          <a:prstGeom prst="rect">
            <a:avLst/>
          </a:prstGeom>
        </p:spPr>
      </p:pic>
      <p:pic>
        <p:nvPicPr>
          <p:cNvPr id="3" name="03-01-04-02-01-01-02.wav">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3"/>
          <a:stretch>
            <a:fillRect/>
          </a:stretch>
        </p:blipFill>
        <p:spPr>
          <a:xfrm>
            <a:off x="4505800" y="3981497"/>
            <a:ext cx="595111" cy="595111"/>
          </a:xfrm>
          <a:prstGeom prst="rect">
            <a:avLst/>
          </a:prstGeom>
        </p:spPr>
      </p:pic>
      <p:pic>
        <p:nvPicPr>
          <p:cNvPr id="4" name="03-01-06-02-02-01-03.wav">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3"/>
          <a:stretch>
            <a:fillRect/>
          </a:stretch>
        </p:blipFill>
        <p:spPr>
          <a:xfrm>
            <a:off x="6404697" y="3981497"/>
            <a:ext cx="595110" cy="595110"/>
          </a:xfrm>
          <a:prstGeom prst="rect">
            <a:avLst/>
          </a:prstGeom>
        </p:spPr>
      </p:pic>
      <p:pic>
        <p:nvPicPr>
          <p:cNvPr id="5" name="03-01-07-02-02-01-04.wav">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3"/>
          <a:stretch>
            <a:fillRect/>
          </a:stretch>
        </p:blipFill>
        <p:spPr>
          <a:xfrm>
            <a:off x="8426048" y="3981497"/>
            <a:ext cx="595110" cy="5951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7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737"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303" fill="hold"/>
                                        <p:tgtEl>
                                          <p:spTgt spid="4"/>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87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9" fill="hold" display="0">
                  <p:stCondLst>
                    <p:cond delay="indefinite"/>
                  </p:stCondLst>
                  <p:endCondLst>
                    <p:cond evt="onStopAudio" delay="0">
                      <p:tgtEl>
                        <p:sldTgt/>
                      </p:tgtEl>
                    </p:cond>
                  </p:endCondLst>
                </p:cTn>
                <p:tgtEl>
                  <p:spTgt spid="2"/>
                </p:tgtEl>
              </p:cMediaNode>
            </p:audio>
            <p:audio>
              <p:cMediaNode vol="80000">
                <p:cTn id="20" fill="hold" display="0">
                  <p:stCondLst>
                    <p:cond delay="indefinite"/>
                  </p:stCondLst>
                  <p:endCondLst>
                    <p:cond evt="onStopAudio" delay="0">
                      <p:tgtEl>
                        <p:sldTgt/>
                      </p:tgtEl>
                    </p:cond>
                  </p:endCondLst>
                </p:cTn>
                <p:tgtEl>
                  <p:spTgt spid="3"/>
                </p:tgtEl>
              </p:cMediaNode>
            </p:audio>
            <p:audio>
              <p:cMediaNode vol="80000">
                <p:cTn id="21" fill="hold" display="0">
                  <p:stCondLst>
                    <p:cond delay="indefinite"/>
                  </p:stCondLst>
                  <p:endCondLst>
                    <p:cond evt="onStopAudio" delay="0">
                      <p:tgtEl>
                        <p:sldTgt/>
                      </p:tgtEl>
                    </p:cond>
                  </p:endCondLst>
                </p:cTn>
                <p:tgtEl>
                  <p:spTgt spid="4"/>
                </p:tgtEl>
              </p:cMediaNode>
            </p:audio>
            <p:audio>
              <p:cMediaNode vol="80000">
                <p:cTn id="22" fill="hold" display="0">
                  <p:stCondLst>
                    <p:cond delay="indefinite"/>
                  </p:stCondLst>
                  <p:endCondLst>
                    <p:cond evt="onStopAudio" delay="0">
                      <p:tgtEl>
                        <p:sldTgt/>
                      </p:tgtEl>
                    </p:cond>
                  </p:endCondLst>
                </p:cTn>
                <p:tgtEl>
                  <p:spTgt spid="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28" name="Google Shape;128;p19"/>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Baseline Results</a:t>
            </a:r>
            <a:endParaRPr sz="3000" b="1">
              <a:solidFill>
                <a:schemeClr val="lt1"/>
              </a:solidFill>
            </a:endParaRPr>
          </a:p>
        </p:txBody>
      </p:sp>
      <p:sp>
        <p:nvSpPr>
          <p:cNvPr id="129" name="Google Shape;129;p19"/>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30" name="Google Shape;13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7</a:t>
            </a:r>
            <a:endParaRPr lang="en-GB">
              <a:solidFill>
                <a:schemeClr val="lt1"/>
              </a:solidFill>
            </a:endParaRPr>
          </a:p>
        </p:txBody>
      </p:sp>
      <p:sp>
        <p:nvSpPr>
          <p:cNvPr id="131" name="Google Shape;131;p19"/>
          <p:cNvSpPr txBox="1"/>
          <p:nvPr/>
        </p:nvSpPr>
        <p:spPr>
          <a:xfrm>
            <a:off x="0" y="1061400"/>
            <a:ext cx="4332000" cy="25209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GB" sz="1800">
                <a:solidFill>
                  <a:schemeClr val="dk1"/>
                </a:solidFill>
              </a:rPr>
              <a:t>SVM performed best</a:t>
            </a:r>
            <a:endParaRPr sz="1800">
              <a:solidFill>
                <a:schemeClr val="dk1"/>
              </a:solidFill>
            </a:endParaRPr>
          </a:p>
          <a:p>
            <a:pPr marL="914400" lvl="1" indent="-317500" algn="l" rtl="0">
              <a:lnSpc>
                <a:spcPct val="115000"/>
              </a:lnSpc>
              <a:spcBef>
                <a:spcPts val="0"/>
              </a:spcBef>
              <a:spcAft>
                <a:spcPts val="0"/>
              </a:spcAft>
              <a:buClr>
                <a:schemeClr val="dk1"/>
              </a:buClr>
              <a:buSzPts val="1400"/>
              <a:buChar char="-"/>
            </a:pPr>
            <a:r>
              <a:rPr lang="en-GB">
                <a:solidFill>
                  <a:schemeClr val="dk1"/>
                </a:solidFill>
              </a:rPr>
              <a:t>Over GMM, KNN, CNN</a:t>
            </a:r>
            <a:endParaRPr>
              <a:solidFill>
                <a:schemeClr val="dk1"/>
              </a:solidFill>
            </a:endParaRPr>
          </a:p>
          <a:p>
            <a:pPr marL="0" lvl="0" indent="0" algn="l" rtl="0">
              <a:lnSpc>
                <a:spcPct val="115000"/>
              </a:lnSpc>
              <a:spcBef>
                <a:spcPts val="1200"/>
              </a:spcBef>
              <a:spcAft>
                <a:spcPts val="0"/>
              </a:spcAft>
              <a:buNone/>
            </a:pPr>
            <a:endParaRPr sz="1600">
              <a:solidFill>
                <a:schemeClr val="dk1"/>
              </a:solidFill>
            </a:endParaRPr>
          </a:p>
          <a:p>
            <a:pPr marL="0" lvl="0" indent="0" algn="l" rtl="0">
              <a:lnSpc>
                <a:spcPct val="115000"/>
              </a:lnSpc>
              <a:spcBef>
                <a:spcPts val="1200"/>
              </a:spcBef>
              <a:spcAft>
                <a:spcPts val="1200"/>
              </a:spcAft>
              <a:buNone/>
            </a:pPr>
            <a:endParaRPr sz="1600">
              <a:solidFill>
                <a:schemeClr val="dk1"/>
              </a:solidFill>
            </a:endParaRPr>
          </a:p>
        </p:txBody>
      </p:sp>
      <p:pic>
        <p:nvPicPr>
          <p:cNvPr id="132" name="Google Shape;132;p19"/>
          <p:cNvPicPr preferRelativeResize="0"/>
          <p:nvPr/>
        </p:nvPicPr>
        <p:blipFill>
          <a:blip r:embed="rId1"/>
          <a:stretch>
            <a:fillRect/>
          </a:stretch>
        </p:blipFill>
        <p:spPr>
          <a:xfrm>
            <a:off x="3839750" y="1221839"/>
            <a:ext cx="4133950" cy="326201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38" name="Google Shape;138;p20"/>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Reverse Turing Test</a:t>
            </a:r>
            <a:endParaRPr sz="3000" b="1">
              <a:solidFill>
                <a:schemeClr val="lt1"/>
              </a:solidFill>
            </a:endParaRPr>
          </a:p>
        </p:txBody>
      </p:sp>
      <p:sp>
        <p:nvSpPr>
          <p:cNvPr id="139" name="Google Shape;139;p20"/>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40" name="Google Shape;14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8</a:t>
            </a:r>
            <a:endParaRPr lang="en-GB">
              <a:solidFill>
                <a:schemeClr val="lt1"/>
              </a:solidFill>
            </a:endParaRPr>
          </a:p>
        </p:txBody>
      </p:sp>
      <p:sp>
        <p:nvSpPr>
          <p:cNvPr id="141" name="Google Shape;141;p20"/>
          <p:cNvSpPr txBox="1"/>
          <p:nvPr/>
        </p:nvSpPr>
        <p:spPr>
          <a:xfrm>
            <a:off x="12235" y="1694750"/>
            <a:ext cx="4332000" cy="2091600"/>
          </a:xfrm>
          <a:prstGeom prst="rect">
            <a:avLst/>
          </a:prstGeom>
          <a:noFill/>
          <a:ln>
            <a:noFill/>
          </a:ln>
        </p:spPr>
        <p:txBody>
          <a:bodyPr spcFirstLastPara="1" wrap="square" lIns="91425" tIns="91425" rIns="91425" bIns="91425" anchor="t" anchorCtr="0">
            <a:noAutofit/>
          </a:bodyPr>
          <a:lstStyle/>
          <a:p>
            <a:pPr marL="457200" lvl="0" indent="-355600" algn="l" rtl="0">
              <a:lnSpc>
                <a:spcPct val="200000"/>
              </a:lnSpc>
              <a:spcBef>
                <a:spcPts val="0"/>
              </a:spcBef>
              <a:spcAft>
                <a:spcPts val="0"/>
              </a:spcAft>
              <a:buClr>
                <a:schemeClr val="dk1"/>
              </a:buClr>
              <a:buSzPts val="2000"/>
              <a:buChar char="-"/>
            </a:pPr>
            <a:r>
              <a:rPr lang="en-GB" sz="2000" b="1" dirty="0">
                <a:solidFill>
                  <a:schemeClr val="dk1"/>
                </a:solidFill>
              </a:rPr>
              <a:t>Test 1</a:t>
            </a:r>
            <a:endParaRPr sz="2000" b="1" dirty="0">
              <a:solidFill>
                <a:schemeClr val="dk1"/>
              </a:solidFill>
            </a:endParaRPr>
          </a:p>
          <a:p>
            <a:pPr marL="457200" lvl="0" indent="-355600" algn="l" rtl="0">
              <a:lnSpc>
                <a:spcPct val="200000"/>
              </a:lnSpc>
              <a:spcBef>
                <a:spcPts val="0"/>
              </a:spcBef>
              <a:spcAft>
                <a:spcPts val="0"/>
              </a:spcAft>
              <a:buClr>
                <a:schemeClr val="dk1"/>
              </a:buClr>
              <a:buSzPts val="2000"/>
              <a:buChar char="-"/>
            </a:pPr>
            <a:r>
              <a:rPr lang="en-GB" sz="2000" b="1" dirty="0">
                <a:solidFill>
                  <a:schemeClr val="dk1"/>
                </a:solidFill>
              </a:rPr>
              <a:t>Test 2</a:t>
            </a:r>
            <a:endParaRPr sz="2000" b="1" dirty="0">
              <a:solidFill>
                <a:schemeClr val="dk1"/>
              </a:solidFill>
            </a:endParaRPr>
          </a:p>
          <a:p>
            <a:pPr marL="457200" lvl="0" indent="-355600" algn="l" rtl="0">
              <a:lnSpc>
                <a:spcPct val="200000"/>
              </a:lnSpc>
              <a:spcBef>
                <a:spcPts val="0"/>
              </a:spcBef>
              <a:spcAft>
                <a:spcPts val="0"/>
              </a:spcAft>
              <a:buClr>
                <a:schemeClr val="dk1"/>
              </a:buClr>
              <a:buSzPts val="2000"/>
              <a:buChar char="-"/>
            </a:pPr>
            <a:r>
              <a:rPr lang="en-GB" sz="2000" b="1" dirty="0">
                <a:solidFill>
                  <a:schemeClr val="dk1"/>
                </a:solidFill>
              </a:rPr>
              <a:t>Test 3</a:t>
            </a:r>
            <a:endParaRPr sz="2000" b="1" dirty="0">
              <a:solidFill>
                <a:schemeClr val="dk1"/>
              </a:solidFill>
            </a:endParaRPr>
          </a:p>
          <a:p>
            <a:pPr marL="0" lvl="0" indent="0" algn="l" rtl="0">
              <a:lnSpc>
                <a:spcPct val="115000"/>
              </a:lnSpc>
              <a:spcBef>
                <a:spcPts val="1200"/>
              </a:spcBef>
              <a:spcAft>
                <a:spcPts val="0"/>
              </a:spcAft>
              <a:buNone/>
            </a:pPr>
            <a:endParaRPr sz="2000" b="1" dirty="0">
              <a:solidFill>
                <a:schemeClr val="dk1"/>
              </a:solidFill>
            </a:endParaRPr>
          </a:p>
          <a:p>
            <a:pPr marL="0" lvl="0" indent="0" algn="l" rtl="0">
              <a:lnSpc>
                <a:spcPct val="115000"/>
              </a:lnSpc>
              <a:spcBef>
                <a:spcPts val="1200"/>
              </a:spcBef>
              <a:spcAft>
                <a:spcPts val="1200"/>
              </a:spcAft>
              <a:buNone/>
            </a:pPr>
            <a:endParaRPr sz="2000" b="1" dirty="0">
              <a:solidFill>
                <a:schemeClr val="dk1"/>
              </a:solidFill>
            </a:endParaRPr>
          </a:p>
        </p:txBody>
      </p:sp>
      <p:sp>
        <p:nvSpPr>
          <p:cNvPr id="142" name="Google Shape;142;p20"/>
          <p:cNvSpPr txBox="1"/>
          <p:nvPr/>
        </p:nvSpPr>
        <p:spPr>
          <a:xfrm>
            <a:off x="2056400" y="1145875"/>
            <a:ext cx="4332000" cy="1510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b="1" dirty="0">
                <a:solidFill>
                  <a:schemeClr val="dk1"/>
                </a:solidFill>
              </a:rPr>
              <a:t>Are you better than an SVM?</a:t>
            </a:r>
            <a:endParaRPr sz="2000" b="1" dirty="0">
              <a:solidFill>
                <a:schemeClr val="dk1"/>
              </a:solidFill>
            </a:endParaRPr>
          </a:p>
          <a:p>
            <a:pPr marL="0" lvl="0" indent="0" algn="ctr" rtl="0">
              <a:lnSpc>
                <a:spcPct val="115000"/>
              </a:lnSpc>
              <a:spcBef>
                <a:spcPts val="1200"/>
              </a:spcBef>
              <a:spcAft>
                <a:spcPts val="0"/>
              </a:spcAft>
              <a:buNone/>
            </a:pPr>
            <a:endParaRPr sz="2000" b="1" dirty="0">
              <a:solidFill>
                <a:schemeClr val="dk1"/>
              </a:solidFill>
            </a:endParaRPr>
          </a:p>
          <a:p>
            <a:pPr marL="0" lvl="0" indent="0" algn="ctr" rtl="0">
              <a:lnSpc>
                <a:spcPct val="115000"/>
              </a:lnSpc>
              <a:spcBef>
                <a:spcPts val="1200"/>
              </a:spcBef>
              <a:spcAft>
                <a:spcPts val="1200"/>
              </a:spcAft>
              <a:buNone/>
            </a:pPr>
            <a:endParaRPr sz="2000" b="1" dirty="0">
              <a:solidFill>
                <a:schemeClr val="dk1"/>
              </a:solidFill>
            </a:endParaRPr>
          </a:p>
        </p:txBody>
      </p:sp>
      <p:graphicFrame>
        <p:nvGraphicFramePr>
          <p:cNvPr id="143" name="Google Shape;143;p20"/>
          <p:cNvGraphicFramePr/>
          <p:nvPr/>
        </p:nvGraphicFramePr>
        <p:xfrm>
          <a:off x="4701075" y="2144925"/>
          <a:ext cx="4013100" cy="1671550"/>
        </p:xfrm>
        <a:graphic>
          <a:graphicData uri="http://schemas.openxmlformats.org/drawingml/2006/table">
            <a:tbl>
              <a:tblPr>
                <a:noFill/>
                <a:tableStyleId>{97FB59A7-EC65-4619-BF9D-75ABF18B6576}</a:tableStyleId>
              </a:tblPr>
              <a:tblGrid>
                <a:gridCol w="1003275"/>
                <a:gridCol w="1003275"/>
                <a:gridCol w="1003275"/>
                <a:gridCol w="1003275"/>
              </a:tblGrid>
              <a:tr h="835775">
                <a:tc>
                  <a:txBody>
                    <a:bodyPr/>
                    <a:lstStyle/>
                    <a:p>
                      <a:pPr marL="0" lvl="0" indent="0" algn="ctr" rtl="0">
                        <a:spcBef>
                          <a:spcPts val="0"/>
                        </a:spcBef>
                        <a:spcAft>
                          <a:spcPts val="0"/>
                        </a:spcAft>
                        <a:buNone/>
                      </a:pPr>
                      <a:r>
                        <a:rPr lang="en-GB" sz="1500" b="1"/>
                        <a:t>Neutral</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sz="1500" b="1"/>
                        <a:t>Calm</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sz="1500" b="1"/>
                        <a:t>Happy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sz="1500" b="1"/>
                        <a:t>Sad</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r>
              <a:tr h="835775">
                <a:tc>
                  <a:txBody>
                    <a:bodyPr/>
                    <a:lstStyle/>
                    <a:p>
                      <a:pPr marL="0" lvl="0" indent="0" algn="ctr" rtl="0">
                        <a:spcBef>
                          <a:spcPts val="0"/>
                        </a:spcBef>
                        <a:spcAft>
                          <a:spcPts val="0"/>
                        </a:spcAft>
                        <a:buNone/>
                      </a:pPr>
                      <a:r>
                        <a:rPr lang="en-GB" sz="1500" b="1"/>
                        <a:t>Angry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sz="1500" b="1"/>
                        <a:t>Fearful</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sz="1500" b="1"/>
                        <a:t>Surprise</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GB" sz="1500" b="1"/>
                        <a:t>Disgust</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r>
            </a:tbl>
          </a:graphicData>
        </a:graphic>
      </p:graphicFrame>
      <p:sp>
        <p:nvSpPr>
          <p:cNvPr id="144" name="Google Shape;144;p20"/>
          <p:cNvSpPr txBox="1"/>
          <p:nvPr/>
        </p:nvSpPr>
        <p:spPr>
          <a:xfrm>
            <a:off x="4682752" y="1681075"/>
            <a:ext cx="4013100" cy="43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000" b="1">
                <a:solidFill>
                  <a:schemeClr val="dk1"/>
                </a:solidFill>
              </a:rPr>
              <a:t>Emotions</a:t>
            </a:r>
            <a:endParaRPr sz="2000" b="1">
              <a:solidFill>
                <a:schemeClr val="dk1"/>
              </a:solidFill>
            </a:endParaRPr>
          </a:p>
        </p:txBody>
      </p:sp>
      <p:pic>
        <p:nvPicPr>
          <p:cNvPr id="2" name="03-01-05-02-02-01-24.wav">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650000" y="1714475"/>
            <a:ext cx="812800" cy="812800"/>
          </a:xfrm>
          <a:prstGeom prst="rect">
            <a:avLst/>
          </a:prstGeom>
        </p:spPr>
      </p:pic>
      <p:pic>
        <p:nvPicPr>
          <p:cNvPr id="3" name="03-01-03-01-01-01-23.wav">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3"/>
          <a:stretch>
            <a:fillRect/>
          </a:stretch>
        </p:blipFill>
        <p:spPr>
          <a:xfrm>
            <a:off x="1650000" y="2356055"/>
            <a:ext cx="812800" cy="812800"/>
          </a:xfrm>
          <a:prstGeom prst="rect">
            <a:avLst/>
          </a:prstGeom>
        </p:spPr>
      </p:pic>
      <p:pic>
        <p:nvPicPr>
          <p:cNvPr id="4" name="03-01-08-01-01-01-22.wav">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3"/>
          <a:stretch>
            <a:fillRect/>
          </a:stretch>
        </p:blipFill>
        <p:spPr>
          <a:xfrm>
            <a:off x="1650000" y="297355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7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336"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53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2"/>
                </p:tgtEl>
              </p:cMediaNode>
            </p:audio>
            <p:audio>
              <p:cMediaNode vol="80000">
                <p:cTn id="16" fill="hold" display="0">
                  <p:stCondLst>
                    <p:cond delay="indefinite"/>
                  </p:stCondLst>
                  <p:endCondLst>
                    <p:cond evt="onStopAudio" delay="0">
                      <p:tgtEl>
                        <p:sldTgt/>
                      </p:tgtEl>
                    </p:cond>
                  </p:endCondLst>
                </p:cTn>
                <p:tgtEl>
                  <p:spTgt spid="3"/>
                </p:tgtEl>
              </p:cMediaNode>
            </p:audio>
            <p:audio>
              <p:cMediaNode vol="80000">
                <p:cTn id="1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1"/>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3" name="Google Shape;153;p21"/>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Noise</a:t>
            </a:r>
            <a:endParaRPr sz="3000" b="1">
              <a:solidFill>
                <a:schemeClr val="lt1"/>
              </a:solidFill>
            </a:endParaRPr>
          </a:p>
        </p:txBody>
      </p:sp>
      <p:sp>
        <p:nvSpPr>
          <p:cNvPr id="154" name="Google Shape;154;p21"/>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Gaussian White Noise</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ESC-50 Dataset</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Environmental sounds. 50 classes</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Procedure</a:t>
            </a:r>
            <a:endParaRPr>
              <a:solidFill>
                <a:schemeClr val="dk1"/>
              </a:solidFill>
            </a:endParaRPr>
          </a:p>
          <a:p>
            <a:pPr marL="914400" lvl="1" indent="-330200" algn="l" rtl="0">
              <a:spcBef>
                <a:spcPts val="0"/>
              </a:spcBef>
              <a:spcAft>
                <a:spcPts val="0"/>
              </a:spcAft>
              <a:buClr>
                <a:schemeClr val="dk1"/>
              </a:buClr>
              <a:buSzPts val="1600"/>
              <a:buChar char="-"/>
            </a:pPr>
            <a:r>
              <a:rPr lang="en-GB">
                <a:solidFill>
                  <a:srgbClr val="0E0E0E"/>
                </a:solidFill>
              </a:rPr>
              <a:t>Choose random noise</a:t>
            </a:r>
            <a:endParaRPr>
              <a:solidFill>
                <a:srgbClr val="0E0E0E"/>
              </a:solidFill>
            </a:endParaRPr>
          </a:p>
          <a:p>
            <a:pPr marL="914400" lvl="1" indent="-330200" algn="l" rtl="0">
              <a:spcBef>
                <a:spcPts val="0"/>
              </a:spcBef>
              <a:spcAft>
                <a:spcPts val="0"/>
              </a:spcAft>
              <a:buClr>
                <a:schemeClr val="dk1"/>
              </a:buClr>
              <a:buSzPts val="1600"/>
              <a:buChar char="-"/>
            </a:pPr>
            <a:r>
              <a:rPr lang="en-GB">
                <a:solidFill>
                  <a:srgbClr val="0E0E0E"/>
                </a:solidFill>
              </a:rPr>
              <a:t>Normalize audio</a:t>
            </a:r>
            <a:endParaRPr>
              <a:solidFill>
                <a:srgbClr val="0E0E0E"/>
              </a:solidFill>
            </a:endParaRPr>
          </a:p>
          <a:p>
            <a:pPr marL="914400" lvl="1" indent="-317500" algn="l" rtl="0">
              <a:spcBef>
                <a:spcPts val="0"/>
              </a:spcBef>
              <a:spcAft>
                <a:spcPts val="0"/>
              </a:spcAft>
              <a:buClr>
                <a:srgbClr val="0E0E0E"/>
              </a:buClr>
              <a:buSzPts val="1400"/>
              <a:buChar char="-"/>
            </a:pPr>
            <a:r>
              <a:rPr lang="en-GB">
                <a:solidFill>
                  <a:srgbClr val="0E0E0E"/>
                </a:solidFill>
              </a:rPr>
              <a:t>Define target SNR</a:t>
            </a:r>
            <a:endParaRPr>
              <a:solidFill>
                <a:srgbClr val="0E0E0E"/>
              </a:solidFill>
            </a:endParaRPr>
          </a:p>
          <a:p>
            <a:pPr marL="914400" lvl="1" indent="-317500" algn="l" rtl="0">
              <a:spcBef>
                <a:spcPts val="0"/>
              </a:spcBef>
              <a:spcAft>
                <a:spcPts val="0"/>
              </a:spcAft>
              <a:buClr>
                <a:srgbClr val="0E0E0E"/>
              </a:buClr>
              <a:buSzPts val="1400"/>
              <a:buChar char="-"/>
            </a:pPr>
            <a:r>
              <a:rPr lang="en-GB">
                <a:solidFill>
                  <a:srgbClr val="0E0E0E"/>
                </a:solidFill>
              </a:rPr>
              <a:t>Add noise to audio to match SNR</a:t>
            </a:r>
            <a:endParaRPr>
              <a:solidFill>
                <a:srgbClr val="0E0E0E"/>
              </a:solidFill>
            </a:endParaRPr>
          </a:p>
          <a:p>
            <a:pPr marL="457200" lvl="0" indent="-342900" algn="l" rtl="0">
              <a:spcBef>
                <a:spcPts val="0"/>
              </a:spcBef>
              <a:spcAft>
                <a:spcPts val="0"/>
              </a:spcAft>
              <a:buClr>
                <a:schemeClr val="dk1"/>
              </a:buClr>
              <a:buSzPts val="1800"/>
              <a:buChar char="-"/>
            </a:pPr>
            <a:r>
              <a:rPr lang="en-GB">
                <a:solidFill>
                  <a:schemeClr val="dk1"/>
                </a:solidFill>
              </a:rPr>
              <a:t>Spectrograms (next slide)</a:t>
            </a:r>
            <a:endParaRPr>
              <a:solidFill>
                <a:schemeClr val="dk1"/>
              </a:solidFill>
            </a:endParaRPr>
          </a:p>
        </p:txBody>
      </p:sp>
      <p:sp>
        <p:nvSpPr>
          <p:cNvPr id="155" name="Google Shape;155;p21"/>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6" name="Google Shape;15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9</a:t>
            </a:r>
            <a:endParaRPr lang="en-GB">
              <a:solidFill>
                <a:schemeClr val="lt1"/>
              </a:solidFill>
            </a:endParaRPr>
          </a:p>
        </p:txBody>
      </p:sp>
      <p:sp>
        <p:nvSpPr>
          <p:cNvPr id="157" name="Google Shape;157;p21"/>
          <p:cNvSpPr/>
          <p:nvPr/>
        </p:nvSpPr>
        <p:spPr>
          <a:xfrm>
            <a:off x="4295500" y="1193325"/>
            <a:ext cx="4725600" cy="3318300"/>
          </a:xfrm>
          <a:prstGeom prst="roundRect">
            <a:avLst>
              <a:gd name="adj" fmla="val 16667"/>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pic>
        <p:nvPicPr>
          <p:cNvPr id="158" name="Google Shape;158;p21"/>
          <p:cNvPicPr preferRelativeResize="0"/>
          <p:nvPr/>
        </p:nvPicPr>
        <p:blipFill>
          <a:blip r:embed="rId1"/>
          <a:stretch>
            <a:fillRect/>
          </a:stretch>
        </p:blipFill>
        <p:spPr>
          <a:xfrm>
            <a:off x="4571996" y="3016416"/>
            <a:ext cx="1803850" cy="1200380"/>
          </a:xfrm>
          <a:prstGeom prst="rect">
            <a:avLst/>
          </a:prstGeom>
          <a:noFill/>
          <a:ln>
            <a:noFill/>
          </a:ln>
        </p:spPr>
      </p:pic>
      <p:pic>
        <p:nvPicPr>
          <p:cNvPr id="159" name="Google Shape;159;p21"/>
          <p:cNvPicPr preferRelativeResize="0"/>
          <p:nvPr/>
        </p:nvPicPr>
        <p:blipFill>
          <a:blip r:embed="rId2"/>
          <a:stretch>
            <a:fillRect/>
          </a:stretch>
        </p:blipFill>
        <p:spPr>
          <a:xfrm>
            <a:off x="6953250" y="3020763"/>
            <a:ext cx="1803850" cy="1196036"/>
          </a:xfrm>
          <a:prstGeom prst="rect">
            <a:avLst/>
          </a:prstGeom>
          <a:noFill/>
          <a:ln>
            <a:noFill/>
          </a:ln>
        </p:spPr>
      </p:pic>
      <p:pic>
        <p:nvPicPr>
          <p:cNvPr id="160" name="Google Shape;160;p21"/>
          <p:cNvPicPr preferRelativeResize="0"/>
          <p:nvPr/>
        </p:nvPicPr>
        <p:blipFill>
          <a:blip r:embed="rId3"/>
          <a:stretch>
            <a:fillRect/>
          </a:stretch>
        </p:blipFill>
        <p:spPr>
          <a:xfrm>
            <a:off x="6953246" y="1446771"/>
            <a:ext cx="1803850" cy="1200380"/>
          </a:xfrm>
          <a:prstGeom prst="rect">
            <a:avLst/>
          </a:prstGeom>
          <a:noFill/>
          <a:ln>
            <a:noFill/>
          </a:ln>
        </p:spPr>
      </p:pic>
      <p:pic>
        <p:nvPicPr>
          <p:cNvPr id="161" name="Google Shape;161;p21"/>
          <p:cNvPicPr preferRelativeResize="0"/>
          <p:nvPr/>
        </p:nvPicPr>
        <p:blipFill rotWithShape="1">
          <a:blip r:embed="rId4"/>
          <a:srcRect t="22021" r="22015"/>
          <a:stretch>
            <a:fillRect/>
          </a:stretch>
        </p:blipFill>
        <p:spPr>
          <a:xfrm>
            <a:off x="4572000" y="1463710"/>
            <a:ext cx="1803850" cy="12003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7" name="Google Shape;167;p22"/>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Noise Addition - Gaussian</a:t>
            </a:r>
            <a:endParaRPr sz="3000" b="1">
              <a:solidFill>
                <a:schemeClr val="lt1"/>
              </a:solidFill>
            </a:endParaRPr>
          </a:p>
        </p:txBody>
      </p:sp>
      <p:sp>
        <p:nvSpPr>
          <p:cNvPr id="168" name="Google Shape;168;p22"/>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69" name="Google Shape;16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10</a:t>
            </a:r>
            <a:endParaRPr lang="en-GB">
              <a:solidFill>
                <a:schemeClr val="lt1"/>
              </a:solidFill>
            </a:endParaRPr>
          </a:p>
        </p:txBody>
      </p:sp>
      <p:pic>
        <p:nvPicPr>
          <p:cNvPr id="170" name="Google Shape;170;p22"/>
          <p:cNvPicPr preferRelativeResize="0"/>
          <p:nvPr/>
        </p:nvPicPr>
        <p:blipFill>
          <a:blip r:embed="rId1"/>
          <a:stretch>
            <a:fillRect/>
          </a:stretch>
        </p:blipFill>
        <p:spPr>
          <a:xfrm>
            <a:off x="293475" y="1119578"/>
            <a:ext cx="2851277" cy="1787663"/>
          </a:xfrm>
          <a:prstGeom prst="rect">
            <a:avLst/>
          </a:prstGeom>
          <a:noFill/>
          <a:ln>
            <a:noFill/>
          </a:ln>
        </p:spPr>
      </p:pic>
      <p:sp>
        <p:nvSpPr>
          <p:cNvPr id="171" name="Google Shape;171;p22"/>
          <p:cNvSpPr/>
          <p:nvPr/>
        </p:nvSpPr>
        <p:spPr>
          <a:xfrm>
            <a:off x="3439300" y="1739050"/>
            <a:ext cx="548700" cy="548700"/>
          </a:xfrm>
          <a:prstGeom prst="mathPlus">
            <a:avLst>
              <a:gd name="adj1" fmla="val 2352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72" name="Google Shape;172;p22"/>
          <p:cNvSpPr/>
          <p:nvPr/>
        </p:nvSpPr>
        <p:spPr>
          <a:xfrm>
            <a:off x="7695150" y="1739050"/>
            <a:ext cx="548700" cy="548700"/>
          </a:xfrm>
          <a:prstGeom prst="mathEqual">
            <a:avLst>
              <a:gd name="adj1" fmla="val 23520"/>
              <a:gd name="adj2" fmla="val 1176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73" name="Google Shape;173;p22"/>
          <p:cNvSpPr txBox="1"/>
          <p:nvPr/>
        </p:nvSpPr>
        <p:spPr>
          <a:xfrm>
            <a:off x="3028450" y="28305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SNR 40 dB</a:t>
            </a:r>
            <a:endParaRPr sz="1600">
              <a:solidFill>
                <a:schemeClr val="dk1"/>
              </a:solidFill>
            </a:endParaRPr>
          </a:p>
        </p:txBody>
      </p:sp>
      <p:sp>
        <p:nvSpPr>
          <p:cNvPr id="174" name="Google Shape;174;p22"/>
          <p:cNvSpPr txBox="1"/>
          <p:nvPr/>
        </p:nvSpPr>
        <p:spPr>
          <a:xfrm>
            <a:off x="6720813" y="28305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SNR 0 dB</a:t>
            </a:r>
            <a:endParaRPr sz="1600">
              <a:solidFill>
                <a:schemeClr val="dk1"/>
              </a:solidFill>
            </a:endParaRPr>
          </a:p>
        </p:txBody>
      </p:sp>
      <p:pic>
        <p:nvPicPr>
          <p:cNvPr id="175" name="Google Shape;175;p22"/>
          <p:cNvPicPr preferRelativeResize="0"/>
          <p:nvPr/>
        </p:nvPicPr>
        <p:blipFill>
          <a:blip r:embed="rId2"/>
          <a:stretch>
            <a:fillRect/>
          </a:stretch>
        </p:blipFill>
        <p:spPr>
          <a:xfrm>
            <a:off x="4483747" y="1119566"/>
            <a:ext cx="2866302" cy="1787675"/>
          </a:xfrm>
          <a:prstGeom prst="rect">
            <a:avLst/>
          </a:prstGeom>
          <a:noFill/>
          <a:ln>
            <a:noFill/>
          </a:ln>
        </p:spPr>
      </p:pic>
      <p:pic>
        <p:nvPicPr>
          <p:cNvPr id="176" name="Google Shape;176;p22"/>
          <p:cNvPicPr preferRelativeResize="0"/>
          <p:nvPr/>
        </p:nvPicPr>
        <p:blipFill>
          <a:blip r:embed="rId3"/>
          <a:stretch>
            <a:fillRect/>
          </a:stretch>
        </p:blipFill>
        <p:spPr>
          <a:xfrm>
            <a:off x="2374525" y="3226577"/>
            <a:ext cx="2851275" cy="1778272"/>
          </a:xfrm>
          <a:prstGeom prst="rect">
            <a:avLst/>
          </a:prstGeom>
          <a:noFill/>
          <a:ln>
            <a:noFill/>
          </a:ln>
        </p:spPr>
      </p:pic>
      <p:pic>
        <p:nvPicPr>
          <p:cNvPr id="177" name="Google Shape;177;p22"/>
          <p:cNvPicPr preferRelativeResize="0"/>
          <p:nvPr/>
        </p:nvPicPr>
        <p:blipFill>
          <a:blip r:embed="rId4"/>
          <a:stretch>
            <a:fillRect/>
          </a:stretch>
        </p:blipFill>
        <p:spPr>
          <a:xfrm>
            <a:off x="5831274" y="3226578"/>
            <a:ext cx="2851275" cy="1778272"/>
          </a:xfrm>
          <a:prstGeom prst="rect">
            <a:avLst/>
          </a:prstGeom>
          <a:noFill/>
          <a:ln>
            <a:noFill/>
          </a:ln>
        </p:spPr>
      </p:pic>
      <p:sp>
        <p:nvSpPr>
          <p:cNvPr id="178" name="Google Shape;178;p22"/>
          <p:cNvSpPr txBox="1"/>
          <p:nvPr/>
        </p:nvSpPr>
        <p:spPr>
          <a:xfrm>
            <a:off x="1182850" y="27543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Audio</a:t>
            </a:r>
            <a:endParaRPr sz="1600">
              <a:solidFill>
                <a:schemeClr val="dk1"/>
              </a:solidFill>
            </a:endParaRPr>
          </a:p>
        </p:txBody>
      </p:sp>
      <p:sp>
        <p:nvSpPr>
          <p:cNvPr id="179" name="Google Shape;179;p22"/>
          <p:cNvSpPr txBox="1"/>
          <p:nvPr/>
        </p:nvSpPr>
        <p:spPr>
          <a:xfrm>
            <a:off x="5402363" y="27506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Noise</a:t>
            </a:r>
            <a:endParaRPr sz="1600">
              <a:solidFill>
                <a:schemeClr val="dk1"/>
              </a:solidFill>
            </a:endParaRPr>
          </a:p>
        </p:txBody>
      </p:sp>
      <p:pic>
        <p:nvPicPr>
          <p:cNvPr id="2" name="original_03-01-03-02-01-01-01.wav">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429436" y="2741323"/>
            <a:ext cx="812800" cy="812800"/>
          </a:xfrm>
          <a:prstGeom prst="rect">
            <a:avLst/>
          </a:prstGeom>
        </p:spPr>
      </p:pic>
      <p:pic>
        <p:nvPicPr>
          <p:cNvPr id="3" name="combined_gaussian_0dB.wav">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7"/>
          <a:stretch>
            <a:fillRect/>
          </a:stretch>
        </p:blipFill>
        <p:spPr>
          <a:xfrm>
            <a:off x="7735749" y="2486525"/>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7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67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2"/>
                </p:tgtEl>
              </p:cMediaNode>
            </p:audio>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87" name="Google Shape;187;p23"/>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Noise Addition - ESC-50</a:t>
            </a:r>
            <a:endParaRPr sz="3000" b="1">
              <a:solidFill>
                <a:schemeClr val="lt1"/>
              </a:solidFill>
            </a:endParaRPr>
          </a:p>
        </p:txBody>
      </p:sp>
      <p:sp>
        <p:nvSpPr>
          <p:cNvPr id="188" name="Google Shape;188;p23"/>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89" name="Google Shape;18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11</a:t>
            </a:r>
            <a:endParaRPr lang="en-GB">
              <a:solidFill>
                <a:schemeClr val="lt1"/>
              </a:solidFill>
            </a:endParaRPr>
          </a:p>
        </p:txBody>
      </p:sp>
      <p:pic>
        <p:nvPicPr>
          <p:cNvPr id="190" name="Google Shape;190;p23"/>
          <p:cNvPicPr preferRelativeResize="0"/>
          <p:nvPr/>
        </p:nvPicPr>
        <p:blipFill>
          <a:blip r:embed="rId1"/>
          <a:stretch>
            <a:fillRect/>
          </a:stretch>
        </p:blipFill>
        <p:spPr>
          <a:xfrm>
            <a:off x="5831883" y="3217420"/>
            <a:ext cx="2851277" cy="1787676"/>
          </a:xfrm>
          <a:prstGeom prst="rect">
            <a:avLst/>
          </a:prstGeom>
          <a:noFill/>
          <a:ln>
            <a:noFill/>
          </a:ln>
        </p:spPr>
      </p:pic>
      <p:pic>
        <p:nvPicPr>
          <p:cNvPr id="191" name="Google Shape;191;p23"/>
          <p:cNvPicPr preferRelativeResize="0"/>
          <p:nvPr/>
        </p:nvPicPr>
        <p:blipFill>
          <a:blip r:embed="rId2"/>
          <a:stretch>
            <a:fillRect/>
          </a:stretch>
        </p:blipFill>
        <p:spPr>
          <a:xfrm>
            <a:off x="2372891" y="3226577"/>
            <a:ext cx="2851277" cy="1787685"/>
          </a:xfrm>
          <a:prstGeom prst="rect">
            <a:avLst/>
          </a:prstGeom>
          <a:noFill/>
          <a:ln>
            <a:noFill/>
          </a:ln>
        </p:spPr>
      </p:pic>
      <p:pic>
        <p:nvPicPr>
          <p:cNvPr id="192" name="Google Shape;192;p23"/>
          <p:cNvPicPr preferRelativeResize="0"/>
          <p:nvPr/>
        </p:nvPicPr>
        <p:blipFill>
          <a:blip r:embed="rId3"/>
          <a:stretch>
            <a:fillRect/>
          </a:stretch>
        </p:blipFill>
        <p:spPr>
          <a:xfrm>
            <a:off x="293475" y="1121943"/>
            <a:ext cx="2851277" cy="1787663"/>
          </a:xfrm>
          <a:prstGeom prst="rect">
            <a:avLst/>
          </a:prstGeom>
          <a:noFill/>
          <a:ln>
            <a:noFill/>
          </a:ln>
        </p:spPr>
      </p:pic>
      <p:pic>
        <p:nvPicPr>
          <p:cNvPr id="193" name="Google Shape;193;p23"/>
          <p:cNvPicPr preferRelativeResize="0"/>
          <p:nvPr/>
        </p:nvPicPr>
        <p:blipFill>
          <a:blip r:embed="rId4"/>
          <a:stretch>
            <a:fillRect/>
          </a:stretch>
        </p:blipFill>
        <p:spPr>
          <a:xfrm>
            <a:off x="4492148" y="1120033"/>
            <a:ext cx="2851277" cy="1787676"/>
          </a:xfrm>
          <a:prstGeom prst="rect">
            <a:avLst/>
          </a:prstGeom>
          <a:noFill/>
          <a:ln>
            <a:noFill/>
          </a:ln>
        </p:spPr>
      </p:pic>
      <p:sp>
        <p:nvSpPr>
          <p:cNvPr id="194" name="Google Shape;194;p23"/>
          <p:cNvSpPr/>
          <p:nvPr/>
        </p:nvSpPr>
        <p:spPr>
          <a:xfrm>
            <a:off x="3439300" y="1739050"/>
            <a:ext cx="548700" cy="548700"/>
          </a:xfrm>
          <a:prstGeom prst="mathPlus">
            <a:avLst>
              <a:gd name="adj1" fmla="val 2352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95" name="Google Shape;195;p23"/>
          <p:cNvSpPr/>
          <p:nvPr/>
        </p:nvSpPr>
        <p:spPr>
          <a:xfrm>
            <a:off x="7695150" y="1739050"/>
            <a:ext cx="548700" cy="548700"/>
          </a:xfrm>
          <a:prstGeom prst="mathEqual">
            <a:avLst>
              <a:gd name="adj1" fmla="val 23520"/>
              <a:gd name="adj2" fmla="val 1176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96" name="Google Shape;196;p23"/>
          <p:cNvSpPr txBox="1"/>
          <p:nvPr/>
        </p:nvSpPr>
        <p:spPr>
          <a:xfrm>
            <a:off x="3028450" y="28305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SNR 40 dB</a:t>
            </a:r>
            <a:endParaRPr sz="1600">
              <a:solidFill>
                <a:schemeClr val="dk1"/>
              </a:solidFill>
            </a:endParaRPr>
          </a:p>
        </p:txBody>
      </p:sp>
      <p:sp>
        <p:nvSpPr>
          <p:cNvPr id="197" name="Google Shape;197;p23"/>
          <p:cNvSpPr txBox="1"/>
          <p:nvPr/>
        </p:nvSpPr>
        <p:spPr>
          <a:xfrm>
            <a:off x="6720813" y="28305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SNR 0 dB</a:t>
            </a:r>
            <a:endParaRPr sz="1600">
              <a:solidFill>
                <a:schemeClr val="dk1"/>
              </a:solidFill>
            </a:endParaRPr>
          </a:p>
        </p:txBody>
      </p:sp>
      <p:sp>
        <p:nvSpPr>
          <p:cNvPr id="198" name="Google Shape;198;p23"/>
          <p:cNvSpPr txBox="1"/>
          <p:nvPr/>
        </p:nvSpPr>
        <p:spPr>
          <a:xfrm>
            <a:off x="5402363" y="27506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Noise</a:t>
            </a:r>
            <a:endParaRPr sz="1600">
              <a:solidFill>
                <a:schemeClr val="dk1"/>
              </a:solidFill>
            </a:endParaRPr>
          </a:p>
        </p:txBody>
      </p:sp>
      <p:sp>
        <p:nvSpPr>
          <p:cNvPr id="199" name="Google Shape;199;p23"/>
          <p:cNvSpPr txBox="1"/>
          <p:nvPr/>
        </p:nvSpPr>
        <p:spPr>
          <a:xfrm>
            <a:off x="1182850" y="2754325"/>
            <a:ext cx="1370400"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Audio</a:t>
            </a:r>
            <a:endParaRPr sz="1600">
              <a:solidFill>
                <a:schemeClr val="dk1"/>
              </a:solidFill>
            </a:endParaRPr>
          </a:p>
        </p:txBody>
      </p:sp>
      <p:pic>
        <p:nvPicPr>
          <p:cNvPr id="2" name="original_03-01-03-02-01-01-01.wav">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429436" y="2741323"/>
            <a:ext cx="812800" cy="812800"/>
          </a:xfrm>
          <a:prstGeom prst="rect">
            <a:avLst/>
          </a:prstGeom>
        </p:spPr>
      </p:pic>
      <p:pic>
        <p:nvPicPr>
          <p:cNvPr id="3" name="combined_typing_0dB.wav">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7"/>
          <a:stretch>
            <a:fillRect/>
          </a:stretch>
        </p:blipFill>
        <p:spPr>
          <a:xfrm>
            <a:off x="7724085" y="2489437"/>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7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67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2"/>
                </p:tgtEl>
              </p:cMediaNode>
            </p:audio>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4"/>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07" name="Google Shape;207;p24"/>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Initial Results</a:t>
            </a:r>
            <a:endParaRPr sz="3000" b="1">
              <a:solidFill>
                <a:schemeClr val="lt1"/>
              </a:solidFill>
            </a:endParaRPr>
          </a:p>
        </p:txBody>
      </p:sp>
      <p:sp>
        <p:nvSpPr>
          <p:cNvPr id="208" name="Google Shape;208;p24"/>
          <p:cNvSpPr txBox="1">
            <a:spLocks noGrp="1"/>
          </p:cNvSpPr>
          <p:nvPr>
            <p:ph type="body" idx="1"/>
          </p:nvPr>
        </p:nvSpPr>
        <p:spPr>
          <a:xfrm>
            <a:off x="0" y="1061400"/>
            <a:ext cx="9144000" cy="8838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Classification performance on noisy data using same SVM</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Environmental noise has much greater impact on accuracy</a:t>
            </a:r>
            <a:endParaRPr>
              <a:solidFill>
                <a:schemeClr val="dk1"/>
              </a:solidFill>
            </a:endParaRPr>
          </a:p>
        </p:txBody>
      </p:sp>
      <p:sp>
        <p:nvSpPr>
          <p:cNvPr id="209" name="Google Shape;209;p24"/>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10" name="Google Shape;21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12</a:t>
            </a:r>
            <a:endParaRPr lang="en-GB">
              <a:solidFill>
                <a:schemeClr val="lt1"/>
              </a:solidFill>
            </a:endParaRPr>
          </a:p>
        </p:txBody>
      </p:sp>
      <p:sp>
        <p:nvSpPr>
          <p:cNvPr id="211" name="Google Shape;211;p24"/>
          <p:cNvSpPr txBox="1"/>
          <p:nvPr/>
        </p:nvSpPr>
        <p:spPr>
          <a:xfrm>
            <a:off x="861913" y="2061400"/>
            <a:ext cx="3071700" cy="25260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2000" b="1">
                <a:solidFill>
                  <a:schemeClr val="dk1"/>
                </a:solidFill>
              </a:rPr>
              <a:t>Gaussian</a:t>
            </a:r>
            <a:endParaRPr sz="2000" b="1">
              <a:solidFill>
                <a:schemeClr val="dk1"/>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212" name="Google Shape;212;p24"/>
          <p:cNvSpPr txBox="1"/>
          <p:nvPr/>
        </p:nvSpPr>
        <p:spPr>
          <a:xfrm>
            <a:off x="4992088" y="2061400"/>
            <a:ext cx="3071700" cy="25260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2000" b="1">
                <a:solidFill>
                  <a:schemeClr val="dk1"/>
                </a:solidFill>
              </a:rPr>
              <a:t>ESC-50</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graphicFrame>
        <p:nvGraphicFramePr>
          <p:cNvPr id="213" name="Google Shape;213;p24"/>
          <p:cNvGraphicFramePr/>
          <p:nvPr/>
        </p:nvGraphicFramePr>
        <p:xfrm>
          <a:off x="1179463" y="2478825"/>
          <a:ext cx="2436600" cy="1981050"/>
        </p:xfrm>
        <a:graphic>
          <a:graphicData uri="http://schemas.openxmlformats.org/drawingml/2006/table">
            <a:tbl>
              <a:tblPr>
                <a:noFill/>
                <a:tableStyleId>{97FB59A7-EC65-4619-BF9D-75ABF18B6576}</a:tableStyleId>
              </a:tblPr>
              <a:tblGrid>
                <a:gridCol w="1218300"/>
                <a:gridCol w="1218300"/>
              </a:tblGrid>
              <a:tr h="381000">
                <a:tc>
                  <a:txBody>
                    <a:bodyPr/>
                    <a:lstStyle/>
                    <a:p>
                      <a:pPr marL="0" lvl="0" indent="0" algn="ctr" rtl="0">
                        <a:spcBef>
                          <a:spcPts val="0"/>
                        </a:spcBef>
                        <a:spcAft>
                          <a:spcPts val="0"/>
                        </a:spcAft>
                        <a:buNone/>
                      </a:pPr>
                      <a:r>
                        <a:rPr lang="en-GB"/>
                        <a:t>Clean</a:t>
                      </a:r>
                      <a:endParaRPr lang="en-GB"/>
                    </a:p>
                  </a:txBody>
                  <a:tcPr marL="91425" marR="91425" marT="91425" marB="91425"/>
                </a:tc>
                <a:tc>
                  <a:txBody>
                    <a:bodyPr/>
                    <a:lstStyle/>
                    <a:p>
                      <a:pPr marL="0" lvl="0" indent="0" algn="ctr" rtl="0">
                        <a:spcBef>
                          <a:spcPts val="0"/>
                        </a:spcBef>
                        <a:spcAft>
                          <a:spcPts val="0"/>
                        </a:spcAft>
                        <a:buNone/>
                      </a:pPr>
                      <a:r>
                        <a:rPr lang="en-GB"/>
                        <a:t>74.7%</a:t>
                      </a:r>
                      <a:endParaRPr lang="en-GB"/>
                    </a:p>
                  </a:txBody>
                  <a:tcPr marL="91425" marR="91425" marT="91425" marB="91425"/>
                </a:tc>
              </a:tr>
              <a:tr h="381000">
                <a:tc>
                  <a:txBody>
                    <a:bodyPr/>
                    <a:lstStyle/>
                    <a:p>
                      <a:pPr marL="0" lvl="0" indent="0" algn="ctr" rtl="0">
                        <a:spcBef>
                          <a:spcPts val="0"/>
                        </a:spcBef>
                        <a:spcAft>
                          <a:spcPts val="0"/>
                        </a:spcAft>
                        <a:buNone/>
                      </a:pPr>
                      <a:r>
                        <a:rPr lang="en-GB"/>
                        <a:t>SNR 40 dB</a:t>
                      </a:r>
                      <a:endParaRPr lang="en-GB"/>
                    </a:p>
                  </a:txBody>
                  <a:tcPr marL="91425" marR="91425" marT="91425" marB="91425"/>
                </a:tc>
                <a:tc>
                  <a:txBody>
                    <a:bodyPr/>
                    <a:lstStyle/>
                    <a:p>
                      <a:pPr marL="0" lvl="0" indent="0" algn="ctr" rtl="0">
                        <a:spcBef>
                          <a:spcPts val="0"/>
                        </a:spcBef>
                        <a:spcAft>
                          <a:spcPts val="0"/>
                        </a:spcAft>
                        <a:buNone/>
                      </a:pPr>
                      <a:r>
                        <a:rPr lang="en-GB"/>
                        <a:t>65.6%</a:t>
                      </a:r>
                      <a:endParaRPr lang="en-GB"/>
                    </a:p>
                  </a:txBody>
                  <a:tcPr marL="91425" marR="91425" marT="91425" marB="91425"/>
                </a:tc>
              </a:tr>
              <a:tr h="381000">
                <a:tc>
                  <a:txBody>
                    <a:bodyPr/>
                    <a:lstStyle/>
                    <a:p>
                      <a:pPr marL="0" lvl="0" indent="0" algn="ctr" rtl="0">
                        <a:spcBef>
                          <a:spcPts val="0"/>
                        </a:spcBef>
                        <a:spcAft>
                          <a:spcPts val="0"/>
                        </a:spcAft>
                        <a:buNone/>
                      </a:pPr>
                      <a:r>
                        <a:rPr lang="en-GB"/>
                        <a:t>SNR 20 dB</a:t>
                      </a:r>
                      <a:endParaRPr lang="en-GB"/>
                    </a:p>
                  </a:txBody>
                  <a:tcPr marL="91425" marR="91425" marT="91425" marB="91425"/>
                </a:tc>
                <a:tc>
                  <a:txBody>
                    <a:bodyPr/>
                    <a:lstStyle/>
                    <a:p>
                      <a:pPr marL="0" lvl="0" indent="0" algn="ctr" rtl="0">
                        <a:spcBef>
                          <a:spcPts val="0"/>
                        </a:spcBef>
                        <a:spcAft>
                          <a:spcPts val="0"/>
                        </a:spcAft>
                        <a:buNone/>
                      </a:pPr>
                      <a:r>
                        <a:rPr lang="en-GB"/>
                        <a:t>55.9%</a:t>
                      </a:r>
                      <a:endParaRPr lang="en-GB"/>
                    </a:p>
                  </a:txBody>
                  <a:tcPr marL="91425" marR="91425" marT="91425" marB="91425"/>
                </a:tc>
              </a:tr>
              <a:tr h="381000">
                <a:tc>
                  <a:txBody>
                    <a:bodyPr/>
                    <a:lstStyle/>
                    <a:p>
                      <a:pPr marL="0" lvl="0" indent="0" algn="ctr" rtl="0">
                        <a:spcBef>
                          <a:spcPts val="0"/>
                        </a:spcBef>
                        <a:spcAft>
                          <a:spcPts val="0"/>
                        </a:spcAft>
                        <a:buNone/>
                      </a:pPr>
                      <a:r>
                        <a:rPr lang="en-GB"/>
                        <a:t>SNR 5 dB</a:t>
                      </a:r>
                      <a:endParaRPr lang="en-GB"/>
                    </a:p>
                  </a:txBody>
                  <a:tcPr marL="91425" marR="91425" marT="91425" marB="91425"/>
                </a:tc>
                <a:tc>
                  <a:txBody>
                    <a:bodyPr/>
                    <a:lstStyle/>
                    <a:p>
                      <a:pPr marL="0" lvl="0" indent="0" algn="ctr" rtl="0">
                        <a:spcBef>
                          <a:spcPts val="0"/>
                        </a:spcBef>
                        <a:spcAft>
                          <a:spcPts val="0"/>
                        </a:spcAft>
                        <a:buNone/>
                      </a:pPr>
                      <a:r>
                        <a:rPr lang="en-GB"/>
                        <a:t>49.0%</a:t>
                      </a:r>
                      <a:endParaRPr lang="en-GB"/>
                    </a:p>
                  </a:txBody>
                  <a:tcPr marL="91425" marR="91425" marT="91425" marB="91425"/>
                </a:tc>
              </a:tr>
              <a:tr h="381000">
                <a:tc>
                  <a:txBody>
                    <a:bodyPr/>
                    <a:lstStyle/>
                    <a:p>
                      <a:pPr marL="0" lvl="0" indent="0" algn="ctr" rtl="0">
                        <a:spcBef>
                          <a:spcPts val="0"/>
                        </a:spcBef>
                        <a:spcAft>
                          <a:spcPts val="0"/>
                        </a:spcAft>
                        <a:buNone/>
                      </a:pPr>
                      <a:r>
                        <a:rPr lang="en-GB"/>
                        <a:t>SNR 0 dB</a:t>
                      </a:r>
                      <a:endParaRPr lang="en-GB"/>
                    </a:p>
                  </a:txBody>
                  <a:tcPr marL="91425" marR="91425" marT="91425" marB="91425"/>
                </a:tc>
                <a:tc>
                  <a:txBody>
                    <a:bodyPr/>
                    <a:lstStyle/>
                    <a:p>
                      <a:pPr marL="0" lvl="0" indent="0" algn="ctr" rtl="0">
                        <a:spcBef>
                          <a:spcPts val="0"/>
                        </a:spcBef>
                        <a:spcAft>
                          <a:spcPts val="0"/>
                        </a:spcAft>
                        <a:buNone/>
                      </a:pPr>
                      <a:r>
                        <a:rPr lang="en-GB" b="1"/>
                        <a:t>46.5%</a:t>
                      </a:r>
                      <a:endParaRPr b="1"/>
                    </a:p>
                  </a:txBody>
                  <a:tcPr marL="91425" marR="91425" marT="91425" marB="91425">
                    <a:solidFill>
                      <a:schemeClr val="lt2"/>
                    </a:solidFill>
                  </a:tcPr>
                </a:tc>
              </a:tr>
            </a:tbl>
          </a:graphicData>
        </a:graphic>
      </p:graphicFrame>
      <p:graphicFrame>
        <p:nvGraphicFramePr>
          <p:cNvPr id="214" name="Google Shape;214;p24"/>
          <p:cNvGraphicFramePr/>
          <p:nvPr/>
        </p:nvGraphicFramePr>
        <p:xfrm>
          <a:off x="5309638" y="2478825"/>
          <a:ext cx="2436600" cy="1981050"/>
        </p:xfrm>
        <a:graphic>
          <a:graphicData uri="http://schemas.openxmlformats.org/drawingml/2006/table">
            <a:tbl>
              <a:tblPr>
                <a:noFill/>
                <a:tableStyleId>{97FB59A7-EC65-4619-BF9D-75ABF18B6576}</a:tableStyleId>
              </a:tblPr>
              <a:tblGrid>
                <a:gridCol w="1218300"/>
                <a:gridCol w="1218300"/>
              </a:tblGrid>
              <a:tr h="381000">
                <a:tc>
                  <a:txBody>
                    <a:bodyPr/>
                    <a:lstStyle/>
                    <a:p>
                      <a:pPr marL="0" lvl="0" indent="0" algn="ctr" rtl="0">
                        <a:spcBef>
                          <a:spcPts val="0"/>
                        </a:spcBef>
                        <a:spcAft>
                          <a:spcPts val="0"/>
                        </a:spcAft>
                        <a:buNone/>
                      </a:pPr>
                      <a:r>
                        <a:rPr lang="en-GB"/>
                        <a:t>Clean</a:t>
                      </a:r>
                      <a:endParaRPr lang="en-GB"/>
                    </a:p>
                  </a:txBody>
                  <a:tcPr marL="91425" marR="91425" marT="91425" marB="91425"/>
                </a:tc>
                <a:tc>
                  <a:txBody>
                    <a:bodyPr/>
                    <a:lstStyle/>
                    <a:p>
                      <a:pPr marL="0" lvl="0" indent="0" algn="ctr" rtl="0">
                        <a:spcBef>
                          <a:spcPts val="0"/>
                        </a:spcBef>
                        <a:spcAft>
                          <a:spcPts val="0"/>
                        </a:spcAft>
                        <a:buNone/>
                      </a:pPr>
                      <a:r>
                        <a:rPr lang="en-GB"/>
                        <a:t>74.7%</a:t>
                      </a:r>
                      <a:endParaRPr lang="en-GB"/>
                    </a:p>
                  </a:txBody>
                  <a:tcPr marL="91425" marR="91425" marT="91425" marB="91425"/>
                </a:tc>
              </a:tr>
              <a:tr h="381000">
                <a:tc>
                  <a:txBody>
                    <a:bodyPr/>
                    <a:lstStyle/>
                    <a:p>
                      <a:pPr marL="0" lvl="0" indent="0" algn="ctr" rtl="0">
                        <a:spcBef>
                          <a:spcPts val="0"/>
                        </a:spcBef>
                        <a:spcAft>
                          <a:spcPts val="0"/>
                        </a:spcAft>
                        <a:buNone/>
                      </a:pPr>
                      <a:r>
                        <a:rPr lang="en-GB"/>
                        <a:t>SNR 40 dB</a:t>
                      </a:r>
                      <a:endParaRPr lang="en-GB"/>
                    </a:p>
                  </a:txBody>
                  <a:tcPr marL="91425" marR="91425" marT="91425" marB="91425"/>
                </a:tc>
                <a:tc>
                  <a:txBody>
                    <a:bodyPr/>
                    <a:lstStyle/>
                    <a:p>
                      <a:pPr marL="0" lvl="0" indent="0" algn="ctr" rtl="0">
                        <a:spcBef>
                          <a:spcPts val="0"/>
                        </a:spcBef>
                        <a:spcAft>
                          <a:spcPts val="0"/>
                        </a:spcAft>
                        <a:buNone/>
                      </a:pPr>
                      <a:r>
                        <a:rPr lang="en-GB"/>
                        <a:t>56.6%</a:t>
                      </a:r>
                      <a:endParaRPr lang="en-GB"/>
                    </a:p>
                  </a:txBody>
                  <a:tcPr marL="91425" marR="91425" marT="91425" marB="91425"/>
                </a:tc>
              </a:tr>
              <a:tr h="381000">
                <a:tc>
                  <a:txBody>
                    <a:bodyPr/>
                    <a:lstStyle/>
                    <a:p>
                      <a:pPr marL="0" lvl="0" indent="0" algn="ctr" rtl="0">
                        <a:spcBef>
                          <a:spcPts val="0"/>
                        </a:spcBef>
                        <a:spcAft>
                          <a:spcPts val="0"/>
                        </a:spcAft>
                        <a:buNone/>
                      </a:pPr>
                      <a:r>
                        <a:rPr lang="en-GB"/>
                        <a:t>SNR 20 dB</a:t>
                      </a:r>
                      <a:endParaRPr lang="en-GB"/>
                    </a:p>
                  </a:txBody>
                  <a:tcPr marL="91425" marR="91425" marT="91425" marB="91425"/>
                </a:tc>
                <a:tc>
                  <a:txBody>
                    <a:bodyPr/>
                    <a:lstStyle/>
                    <a:p>
                      <a:pPr marL="0" lvl="0" indent="0" algn="ctr" rtl="0">
                        <a:spcBef>
                          <a:spcPts val="0"/>
                        </a:spcBef>
                        <a:spcAft>
                          <a:spcPts val="0"/>
                        </a:spcAft>
                        <a:buNone/>
                      </a:pPr>
                      <a:r>
                        <a:rPr lang="en-GB" b="1"/>
                        <a:t>33.0%</a:t>
                      </a:r>
                      <a:endParaRPr b="1"/>
                    </a:p>
                  </a:txBody>
                  <a:tcPr marL="91425" marR="91425" marT="91425" marB="91425">
                    <a:solidFill>
                      <a:schemeClr val="lt2"/>
                    </a:solidFill>
                  </a:tcPr>
                </a:tc>
              </a:tr>
              <a:tr h="381000">
                <a:tc>
                  <a:txBody>
                    <a:bodyPr/>
                    <a:lstStyle/>
                    <a:p>
                      <a:pPr marL="0" lvl="0" indent="0" algn="ctr" rtl="0">
                        <a:spcBef>
                          <a:spcPts val="0"/>
                        </a:spcBef>
                        <a:spcAft>
                          <a:spcPts val="0"/>
                        </a:spcAft>
                        <a:buNone/>
                      </a:pPr>
                      <a:r>
                        <a:rPr lang="en-GB"/>
                        <a:t>SNR 5 dB</a:t>
                      </a:r>
                      <a:endParaRPr lang="en-GB"/>
                    </a:p>
                  </a:txBody>
                  <a:tcPr marL="91425" marR="91425" marT="91425" marB="91425"/>
                </a:tc>
                <a:tc>
                  <a:txBody>
                    <a:bodyPr/>
                    <a:lstStyle/>
                    <a:p>
                      <a:pPr marL="0" lvl="0" indent="0" algn="ctr" rtl="0">
                        <a:spcBef>
                          <a:spcPts val="0"/>
                        </a:spcBef>
                        <a:spcAft>
                          <a:spcPts val="0"/>
                        </a:spcAft>
                        <a:buNone/>
                      </a:pPr>
                      <a:r>
                        <a:rPr lang="en-GB"/>
                        <a:t>20.1%</a:t>
                      </a:r>
                      <a:endParaRPr lang="en-GB"/>
                    </a:p>
                  </a:txBody>
                  <a:tcPr marL="91425" marR="91425" marT="91425" marB="91425"/>
                </a:tc>
              </a:tr>
              <a:tr h="381000">
                <a:tc>
                  <a:txBody>
                    <a:bodyPr/>
                    <a:lstStyle/>
                    <a:p>
                      <a:pPr marL="0" lvl="0" indent="0" algn="ctr" rtl="0">
                        <a:spcBef>
                          <a:spcPts val="0"/>
                        </a:spcBef>
                        <a:spcAft>
                          <a:spcPts val="0"/>
                        </a:spcAft>
                        <a:buNone/>
                      </a:pPr>
                      <a:r>
                        <a:rPr lang="en-GB"/>
                        <a:t>SNR 0 dB</a:t>
                      </a:r>
                      <a:endParaRPr lang="en-GB"/>
                    </a:p>
                  </a:txBody>
                  <a:tcPr marL="91425" marR="91425" marT="91425" marB="91425"/>
                </a:tc>
                <a:tc>
                  <a:txBody>
                    <a:bodyPr/>
                    <a:lstStyle/>
                    <a:p>
                      <a:pPr marL="0" lvl="0" indent="0" algn="ctr" rtl="0">
                        <a:spcBef>
                          <a:spcPts val="0"/>
                        </a:spcBef>
                        <a:spcAft>
                          <a:spcPts val="0"/>
                        </a:spcAft>
                        <a:buNone/>
                      </a:pPr>
                      <a:r>
                        <a:rPr lang="en-GB"/>
                        <a:t>18.8%</a:t>
                      </a:r>
                      <a:endParaRPr lang="en-GB"/>
                    </a:p>
                  </a:txBody>
                  <a:tcPr marL="91425" marR="91425" marT="91425" marB="91425"/>
                </a:tc>
              </a:tr>
            </a:tbl>
          </a:graphicData>
        </a:graphic>
      </p:graphicFrame>
      <p:pic>
        <p:nvPicPr>
          <p:cNvPr id="2" name="combined_gaussian_0dB.wav">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3982473" y="3970417"/>
            <a:ext cx="563413" cy="563413"/>
          </a:xfrm>
          <a:prstGeom prst="rect">
            <a:avLst/>
          </a:prstGeom>
        </p:spPr>
      </p:pic>
      <p:pic>
        <p:nvPicPr>
          <p:cNvPr id="3" name="combined_typing_20dB.wav">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3"/>
          <a:stretch>
            <a:fillRect/>
          </a:stretch>
        </p:blipFill>
        <p:spPr>
          <a:xfrm>
            <a:off x="8099631" y="3216004"/>
            <a:ext cx="563413" cy="5634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7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67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2"/>
                </p:tgtEl>
              </p:cMediaNode>
            </p:audio>
            <p:audio>
              <p:cMediaNode vol="80000">
                <p:cTn id="12"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5"/>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22" name="Google Shape;222;p25"/>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Denoising</a:t>
            </a:r>
            <a:endParaRPr sz="3000" b="1">
              <a:solidFill>
                <a:schemeClr val="lt1"/>
              </a:solidFill>
            </a:endParaRPr>
          </a:p>
        </p:txBody>
      </p:sp>
      <p:sp>
        <p:nvSpPr>
          <p:cNvPr id="223" name="Google Shape;223;p25"/>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Using conventional feature extraction</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MFCC’s</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Spectral Centroid</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Spectral Bandwidth</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Zero-Crossing Rate</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Chroma Frequencies</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Using robust feature extraction</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Spectral Contrast</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RMS Energy</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Increasing the number for features extracted in conventional features</a:t>
            </a:r>
            <a:endParaRPr>
              <a:solidFill>
                <a:schemeClr val="dk1"/>
              </a:solidFill>
            </a:endParaRPr>
          </a:p>
        </p:txBody>
      </p:sp>
      <p:sp>
        <p:nvSpPr>
          <p:cNvPr id="224" name="Google Shape;224;p25"/>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25" name="Google Shape;22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13</a:t>
            </a:r>
            <a:endParaRPr lang="en-GB">
              <a:solidFill>
                <a:schemeClr val="lt1"/>
              </a:solidFill>
            </a:endParaRPr>
          </a:p>
        </p:txBody>
      </p:sp>
      <p:sp>
        <p:nvSpPr>
          <p:cNvPr id="226" name="Google Shape;226;p25"/>
          <p:cNvSpPr/>
          <p:nvPr/>
        </p:nvSpPr>
        <p:spPr>
          <a:xfrm>
            <a:off x="2184900" y="3831800"/>
            <a:ext cx="4774200" cy="10614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27" name="Google Shape;227;p25"/>
          <p:cNvSpPr txBox="1"/>
          <p:nvPr/>
        </p:nvSpPr>
        <p:spPr>
          <a:xfrm>
            <a:off x="2225175" y="3831788"/>
            <a:ext cx="4458600" cy="79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1"/>
                </a:solidFill>
              </a:rPr>
              <a:t>Key Challenges:</a:t>
            </a:r>
            <a:endParaRPr sz="1800">
              <a:solidFill>
                <a:schemeClr val="dk1"/>
              </a:solidFill>
            </a:endParaRPr>
          </a:p>
          <a:p>
            <a:pPr marL="457200" lvl="0" indent="-317500" algn="l" rtl="0">
              <a:spcBef>
                <a:spcPts val="0"/>
              </a:spcBef>
              <a:spcAft>
                <a:spcPts val="0"/>
              </a:spcAft>
              <a:buClr>
                <a:schemeClr val="dk1"/>
              </a:buClr>
              <a:buSzPts val="1400"/>
              <a:buChar char="●"/>
            </a:pPr>
            <a:r>
              <a:rPr lang="en-GB">
                <a:solidFill>
                  <a:schemeClr val="dk1"/>
                </a:solidFill>
              </a:rPr>
              <a:t>Feature loss</a:t>
            </a:r>
            <a:endParaRPr>
              <a:solidFill>
                <a:schemeClr val="dk1"/>
              </a:solidFill>
            </a:endParaRPr>
          </a:p>
          <a:p>
            <a:pPr marL="457200" lvl="0" indent="-317500" algn="l" rtl="0">
              <a:spcBef>
                <a:spcPts val="0"/>
              </a:spcBef>
              <a:spcAft>
                <a:spcPts val="0"/>
              </a:spcAft>
              <a:buClr>
                <a:schemeClr val="dk1"/>
              </a:buClr>
              <a:buSzPts val="1400"/>
              <a:buChar char="●"/>
            </a:pPr>
            <a:r>
              <a:rPr lang="en-GB">
                <a:solidFill>
                  <a:schemeClr val="dk1"/>
                </a:solidFill>
              </a:rPr>
              <a:t>Source separation</a:t>
            </a:r>
            <a:endParaRPr>
              <a:solidFill>
                <a:schemeClr val="dk1"/>
              </a:solidFill>
            </a:endParaRPr>
          </a:p>
          <a:p>
            <a:pPr marL="457200" lvl="0" indent="-317500" algn="l" rtl="0">
              <a:spcBef>
                <a:spcPts val="0"/>
              </a:spcBef>
              <a:spcAft>
                <a:spcPts val="0"/>
              </a:spcAft>
              <a:buClr>
                <a:schemeClr val="dk1"/>
              </a:buClr>
              <a:buSzPts val="1400"/>
              <a:buChar char="●"/>
            </a:pPr>
            <a:r>
              <a:rPr lang="en-GB">
                <a:solidFill>
                  <a:schemeClr val="dk1"/>
                </a:solidFill>
              </a:rPr>
              <a:t>Noise type sensitivity (white, colored, impulsive)</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fld>
            <a:endParaRPr lang="en-GB"/>
          </a:p>
        </p:txBody>
      </p:sp>
      <p:sp>
        <p:nvSpPr>
          <p:cNvPr id="233" name="Google Shape;233;p26"/>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4" name="Google Shape;234;p26"/>
          <p:cNvSpPr txBox="1">
            <a:spLocks noGrp="1"/>
          </p:cNvSpPr>
          <p:nvPr>
            <p:ph type="title" idx="4294967295"/>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Explored Denoising Techniques</a:t>
            </a:r>
            <a:endParaRPr sz="3000" b="1">
              <a:solidFill>
                <a:schemeClr val="lt1"/>
              </a:solidFill>
            </a:endParaRPr>
          </a:p>
        </p:txBody>
      </p:sp>
      <p:sp>
        <p:nvSpPr>
          <p:cNvPr id="235" name="Google Shape;235;p26"/>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6" name="Google Shape;23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14</a:t>
            </a:r>
            <a:endParaRPr lang="en-GB">
              <a:solidFill>
                <a:schemeClr val="lt1"/>
              </a:solidFill>
            </a:endParaRPr>
          </a:p>
        </p:txBody>
      </p:sp>
      <p:sp>
        <p:nvSpPr>
          <p:cNvPr id="237" name="Google Shape;237;p26"/>
          <p:cNvSpPr/>
          <p:nvPr/>
        </p:nvSpPr>
        <p:spPr>
          <a:xfrm>
            <a:off x="309500" y="1189800"/>
            <a:ext cx="2350200" cy="2142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8" name="Google Shape;238;p26"/>
          <p:cNvSpPr/>
          <p:nvPr/>
        </p:nvSpPr>
        <p:spPr>
          <a:xfrm>
            <a:off x="631800" y="2123175"/>
            <a:ext cx="1638300" cy="8460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39" name="Google Shape;239;p26"/>
          <p:cNvSpPr txBox="1"/>
          <p:nvPr/>
        </p:nvSpPr>
        <p:spPr>
          <a:xfrm>
            <a:off x="524375" y="1573813"/>
            <a:ext cx="2047800" cy="43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1200">
                <a:solidFill>
                  <a:schemeClr val="dk1"/>
                </a:solidFill>
              </a:rPr>
              <a:t>Based on threshold-based</a:t>
            </a:r>
            <a:endParaRPr sz="12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200">
                <a:solidFill>
                  <a:schemeClr val="dk1"/>
                </a:solidFill>
              </a:rPr>
              <a:t>filtering in spectrogram</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240" name="Google Shape;240;p26"/>
          <p:cNvSpPr/>
          <p:nvPr/>
        </p:nvSpPr>
        <p:spPr>
          <a:xfrm>
            <a:off x="631800" y="1303950"/>
            <a:ext cx="1772700" cy="302100"/>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1" name="Google Shape;241;p26"/>
          <p:cNvSpPr txBox="1"/>
          <p:nvPr/>
        </p:nvSpPr>
        <p:spPr>
          <a:xfrm>
            <a:off x="631800" y="1213500"/>
            <a:ext cx="2095200" cy="2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1"/>
                </a:solidFill>
              </a:rPr>
              <a:t>Spectral Gating</a:t>
            </a:r>
            <a:endParaRPr sz="1800">
              <a:solidFill>
                <a:schemeClr val="dk1"/>
              </a:solidFill>
            </a:endParaRPr>
          </a:p>
        </p:txBody>
      </p:sp>
      <p:sp>
        <p:nvSpPr>
          <p:cNvPr id="242" name="Google Shape;242;p26"/>
          <p:cNvSpPr txBox="1"/>
          <p:nvPr/>
        </p:nvSpPr>
        <p:spPr>
          <a:xfrm>
            <a:off x="608250" y="2465925"/>
            <a:ext cx="18198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1200">
                <a:solidFill>
                  <a:schemeClr val="dk1"/>
                </a:solidFill>
              </a:rPr>
              <a:t>Ineffective for non-stationary noise</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243" name="Google Shape;243;p26"/>
          <p:cNvSpPr/>
          <p:nvPr/>
        </p:nvSpPr>
        <p:spPr>
          <a:xfrm>
            <a:off x="695575" y="2170575"/>
            <a:ext cx="1507500" cy="2955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4" name="Google Shape;244;p26"/>
          <p:cNvSpPr txBox="1"/>
          <p:nvPr/>
        </p:nvSpPr>
        <p:spPr>
          <a:xfrm>
            <a:off x="695575" y="2135675"/>
            <a:ext cx="1413600" cy="2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CC0000"/>
                </a:solidFill>
              </a:rPr>
              <a:t>Limitations</a:t>
            </a:r>
            <a:endParaRPr>
              <a:solidFill>
                <a:srgbClr val="CC0000"/>
              </a:solidFill>
            </a:endParaRPr>
          </a:p>
        </p:txBody>
      </p:sp>
      <p:sp>
        <p:nvSpPr>
          <p:cNvPr id="245" name="Google Shape;245;p26"/>
          <p:cNvSpPr/>
          <p:nvPr/>
        </p:nvSpPr>
        <p:spPr>
          <a:xfrm>
            <a:off x="3026925" y="1303950"/>
            <a:ext cx="3204900" cy="181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6" name="Google Shape;246;p26"/>
          <p:cNvSpPr/>
          <p:nvPr/>
        </p:nvSpPr>
        <p:spPr>
          <a:xfrm>
            <a:off x="3349225" y="2237325"/>
            <a:ext cx="2681100" cy="7320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7" name="Google Shape;247;p26"/>
          <p:cNvSpPr txBox="1"/>
          <p:nvPr/>
        </p:nvSpPr>
        <p:spPr>
          <a:xfrm>
            <a:off x="3241800" y="1687975"/>
            <a:ext cx="2788500" cy="43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1200">
                <a:solidFill>
                  <a:schemeClr val="dk1"/>
                </a:solidFill>
              </a:rPr>
              <a:t>Signal reconstruction using</a:t>
            </a:r>
            <a:endParaRPr sz="1200">
              <a:solidFill>
                <a:schemeClr val="dk1"/>
              </a:solidFill>
            </a:endParaRPr>
          </a:p>
          <a:p>
            <a:pPr marL="0" lvl="0" indent="0" algn="l" rtl="0">
              <a:spcBef>
                <a:spcPts val="0"/>
              </a:spcBef>
              <a:spcAft>
                <a:spcPts val="0"/>
              </a:spcAft>
              <a:buClr>
                <a:schemeClr val="dk1"/>
              </a:buClr>
              <a:buSzPts val="1100"/>
              <a:buFont typeface="Arial" panose="020B0704020202020204"/>
              <a:buNone/>
            </a:pPr>
            <a:r>
              <a:rPr lang="en-GB" sz="1200">
                <a:solidFill>
                  <a:schemeClr val="dk1"/>
                </a:solidFill>
              </a:rPr>
              <a:t>PCA and STFT</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248" name="Google Shape;248;p26"/>
          <p:cNvSpPr/>
          <p:nvPr/>
        </p:nvSpPr>
        <p:spPr>
          <a:xfrm>
            <a:off x="3349225" y="1418100"/>
            <a:ext cx="2681100" cy="302100"/>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49" name="Google Shape;249;p26"/>
          <p:cNvSpPr txBox="1"/>
          <p:nvPr/>
        </p:nvSpPr>
        <p:spPr>
          <a:xfrm>
            <a:off x="3349225" y="1327650"/>
            <a:ext cx="2728200" cy="20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a:solidFill>
                  <a:schemeClr val="dk1"/>
                </a:solidFill>
              </a:rPr>
              <a:t>PCA-Based Denoising</a:t>
            </a:r>
            <a:endParaRPr sz="1800">
              <a:solidFill>
                <a:schemeClr val="dk1"/>
              </a:solidFill>
            </a:endParaRPr>
          </a:p>
        </p:txBody>
      </p:sp>
      <p:sp>
        <p:nvSpPr>
          <p:cNvPr id="250" name="Google Shape;250;p26"/>
          <p:cNvSpPr txBox="1"/>
          <p:nvPr/>
        </p:nvSpPr>
        <p:spPr>
          <a:xfrm>
            <a:off x="3413000" y="2430775"/>
            <a:ext cx="2593800" cy="51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rPr>
              <a:t>Poor separation of overlapping signals</a:t>
            </a:r>
            <a:endParaRPr sz="1200">
              <a:solidFill>
                <a:schemeClr val="dk1"/>
              </a:solidFill>
            </a:endParaRPr>
          </a:p>
        </p:txBody>
      </p:sp>
      <p:sp>
        <p:nvSpPr>
          <p:cNvPr id="251" name="Google Shape;251;p26"/>
          <p:cNvSpPr/>
          <p:nvPr/>
        </p:nvSpPr>
        <p:spPr>
          <a:xfrm>
            <a:off x="3413000" y="2284725"/>
            <a:ext cx="1093200" cy="1812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2" name="Google Shape;252;p26"/>
          <p:cNvSpPr txBox="1"/>
          <p:nvPr/>
        </p:nvSpPr>
        <p:spPr>
          <a:xfrm>
            <a:off x="3453225" y="2175175"/>
            <a:ext cx="1413600" cy="2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CC0000"/>
                </a:solidFill>
              </a:rPr>
              <a:t>Limitations</a:t>
            </a:r>
            <a:endParaRPr>
              <a:solidFill>
                <a:srgbClr val="CC0000"/>
              </a:solidFill>
            </a:endParaRPr>
          </a:p>
        </p:txBody>
      </p:sp>
      <p:sp>
        <p:nvSpPr>
          <p:cNvPr id="253" name="Google Shape;253;p26"/>
          <p:cNvSpPr/>
          <p:nvPr/>
        </p:nvSpPr>
        <p:spPr>
          <a:xfrm>
            <a:off x="6458175" y="1382500"/>
            <a:ext cx="2350200" cy="2681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4" name="Google Shape;254;p26"/>
          <p:cNvSpPr/>
          <p:nvPr/>
        </p:nvSpPr>
        <p:spPr>
          <a:xfrm>
            <a:off x="6814125" y="2720750"/>
            <a:ext cx="1638300" cy="10959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5" name="Google Shape;255;p26"/>
          <p:cNvSpPr txBox="1"/>
          <p:nvPr/>
        </p:nvSpPr>
        <p:spPr>
          <a:xfrm>
            <a:off x="6719850" y="2218500"/>
            <a:ext cx="2047800" cy="43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1200">
                <a:solidFill>
                  <a:schemeClr val="dk1"/>
                </a:solidFill>
              </a:rPr>
              <a:t>Hybrid time-frequency domain processing</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256" name="Google Shape;256;p26"/>
          <p:cNvSpPr/>
          <p:nvPr/>
        </p:nvSpPr>
        <p:spPr>
          <a:xfrm>
            <a:off x="6686575" y="1525075"/>
            <a:ext cx="1889400" cy="732000"/>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57" name="Google Shape;257;p26"/>
          <p:cNvSpPr txBox="1"/>
          <p:nvPr/>
        </p:nvSpPr>
        <p:spPr>
          <a:xfrm>
            <a:off x="6599050" y="1535850"/>
            <a:ext cx="2095200" cy="20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a:solidFill>
                  <a:schemeClr val="dk1"/>
                </a:solidFill>
              </a:rPr>
              <a:t>Parallel frequency time</a:t>
            </a:r>
            <a:endParaRPr sz="1800">
              <a:solidFill>
                <a:schemeClr val="dk1"/>
              </a:solidFill>
            </a:endParaRPr>
          </a:p>
        </p:txBody>
      </p:sp>
      <p:sp>
        <p:nvSpPr>
          <p:cNvPr id="258" name="Google Shape;258;p26"/>
          <p:cNvSpPr txBox="1"/>
          <p:nvPr/>
        </p:nvSpPr>
        <p:spPr>
          <a:xfrm>
            <a:off x="6780475" y="3203800"/>
            <a:ext cx="18198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rPr>
              <a:t> High complexity and overfitting issues</a:t>
            </a:r>
            <a:endParaRPr sz="1200">
              <a:solidFill>
                <a:schemeClr val="dk1"/>
              </a:solidFill>
            </a:endParaRPr>
          </a:p>
        </p:txBody>
      </p:sp>
      <p:sp>
        <p:nvSpPr>
          <p:cNvPr id="259" name="Google Shape;259;p26"/>
          <p:cNvSpPr/>
          <p:nvPr/>
        </p:nvSpPr>
        <p:spPr>
          <a:xfrm>
            <a:off x="6879525" y="2798775"/>
            <a:ext cx="1507500" cy="2955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60" name="Google Shape;260;p26"/>
          <p:cNvSpPr txBox="1"/>
          <p:nvPr/>
        </p:nvSpPr>
        <p:spPr>
          <a:xfrm>
            <a:off x="6879525" y="2778413"/>
            <a:ext cx="1413600" cy="2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CC0000"/>
                </a:solidFill>
              </a:rPr>
              <a:t>Limitations</a:t>
            </a:r>
            <a:endParaRPr>
              <a:solidFill>
                <a:srgbClr val="CC0000"/>
              </a:solidFill>
            </a:endParaRPr>
          </a:p>
        </p:txBody>
      </p:sp>
      <p:sp>
        <p:nvSpPr>
          <p:cNvPr id="261" name="Google Shape;261;p26"/>
          <p:cNvSpPr/>
          <p:nvPr/>
        </p:nvSpPr>
        <p:spPr>
          <a:xfrm>
            <a:off x="524375" y="3594713"/>
            <a:ext cx="4774200" cy="8460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62" name="Google Shape;262;p26"/>
          <p:cNvSpPr txBox="1"/>
          <p:nvPr/>
        </p:nvSpPr>
        <p:spPr>
          <a:xfrm>
            <a:off x="665375" y="3594713"/>
            <a:ext cx="4458600" cy="79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dk1"/>
                </a:solidFill>
              </a:rPr>
              <a:t>Key Challenges:</a:t>
            </a:r>
            <a:endParaRPr sz="1300">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Non-stationary noise handling</a:t>
            </a:r>
            <a:endParaRPr sz="1300">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Model complexity management</a:t>
            </a:r>
            <a:endParaRPr sz="13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7"/>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68" name="Google Shape;268;p27"/>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SEGAN</a:t>
            </a:r>
            <a:endParaRPr sz="3000" b="1">
              <a:solidFill>
                <a:schemeClr val="lt1"/>
              </a:solidFill>
            </a:endParaRPr>
          </a:p>
        </p:txBody>
      </p:sp>
      <p:sp>
        <p:nvSpPr>
          <p:cNvPr id="269" name="Google Shape;269;p27"/>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Uses an effective encoder-decoder architecture to denoise the signals</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Encoder generates the denoised signal and compares with decoder</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Both clean and noisy version of the signal are fed to the GAN</a:t>
            </a:r>
            <a:endParaRPr>
              <a:solidFill>
                <a:schemeClr val="dk1"/>
              </a:solidFill>
            </a:endParaRPr>
          </a:p>
        </p:txBody>
      </p:sp>
      <p:sp>
        <p:nvSpPr>
          <p:cNvPr id="270" name="Google Shape;270;p27"/>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71" name="Google Shape;27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15</a:t>
            </a:r>
            <a:endParaRPr lang="en-GB">
              <a:solidFill>
                <a:schemeClr val="lt1"/>
              </a:solidFill>
            </a:endParaRPr>
          </a:p>
        </p:txBody>
      </p:sp>
      <p:pic>
        <p:nvPicPr>
          <p:cNvPr id="272" name="Google Shape;272;p27"/>
          <p:cNvPicPr preferRelativeResize="0"/>
          <p:nvPr/>
        </p:nvPicPr>
        <p:blipFill>
          <a:blip r:embed="rId1"/>
          <a:stretch>
            <a:fillRect/>
          </a:stretch>
        </p:blipFill>
        <p:spPr>
          <a:xfrm>
            <a:off x="1102050" y="2302225"/>
            <a:ext cx="6939904" cy="1987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8"/>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78" name="Google Shape;278;p28"/>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Metric GAN+ and Wav2Vec</a:t>
            </a:r>
            <a:endParaRPr sz="3000" b="1">
              <a:solidFill>
                <a:schemeClr val="lt1"/>
              </a:solidFill>
            </a:endParaRPr>
          </a:p>
        </p:txBody>
      </p:sp>
      <p:sp>
        <p:nvSpPr>
          <p:cNvPr id="279" name="Google Shape;279;p28"/>
          <p:cNvSpPr txBox="1">
            <a:spLocks noGrp="1"/>
          </p:cNvSpPr>
          <p:nvPr>
            <p:ph type="body" idx="1"/>
          </p:nvPr>
        </p:nvSpPr>
        <p:spPr>
          <a:xfrm>
            <a:off x="0" y="1061400"/>
            <a:ext cx="9144000" cy="26406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Clr>
                <a:schemeClr val="dk1"/>
              </a:buClr>
              <a:buSzPts val="1800"/>
              <a:buChar char="-"/>
            </a:pPr>
            <a:r>
              <a:rPr lang="en-GB">
                <a:solidFill>
                  <a:schemeClr val="dk1"/>
                </a:solidFill>
              </a:rPr>
              <a:t>Speech Brain</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Open-source toolkit for speech technologies; solutions for speech recognition</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MetricGAN</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GAN for Speech Enhancement</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Pretrained on the Voice Bank Dataset</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Less Adversarial Loss</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Wav2Vec Classifier</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Self-supervised model for learning speech representations</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Has variants fined tuned for Emotion Recognition</a:t>
            </a:r>
            <a:endParaRPr>
              <a:solidFill>
                <a:schemeClr val="dk1"/>
              </a:solidFill>
            </a:endParaRPr>
          </a:p>
          <a:p>
            <a:pPr marL="914400" lvl="1" indent="-317500" algn="l" rtl="0">
              <a:spcBef>
                <a:spcPts val="0"/>
              </a:spcBef>
              <a:spcAft>
                <a:spcPts val="0"/>
              </a:spcAft>
              <a:buClr>
                <a:schemeClr val="dk1"/>
              </a:buClr>
              <a:buSzPts val="1400"/>
              <a:buChar char="-"/>
            </a:pPr>
            <a:r>
              <a:rPr lang="en-GB">
                <a:solidFill>
                  <a:srgbClr val="0E0E0E"/>
                </a:solidFill>
              </a:rPr>
              <a:t>Includes a convolutional feature encoder and a Transformer for sequence modeling</a:t>
            </a:r>
            <a:endParaRPr sz="1500">
              <a:solidFill>
                <a:schemeClr val="dk1"/>
              </a:solidFill>
            </a:endParaRPr>
          </a:p>
        </p:txBody>
      </p:sp>
      <p:sp>
        <p:nvSpPr>
          <p:cNvPr id="280" name="Google Shape;280;p28"/>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1" name="Google Shape;281;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16</a:t>
            </a:r>
            <a:endParaRPr lang="en-GB">
              <a:solidFill>
                <a:schemeClr val="lt1"/>
              </a:solidFill>
            </a:endParaRPr>
          </a:p>
        </p:txBody>
      </p:sp>
      <p:sp>
        <p:nvSpPr>
          <p:cNvPr id="282" name="Google Shape;282;p28"/>
          <p:cNvSpPr/>
          <p:nvPr/>
        </p:nvSpPr>
        <p:spPr>
          <a:xfrm>
            <a:off x="799563" y="3633975"/>
            <a:ext cx="1376400" cy="725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3" name="Google Shape;283;p28"/>
          <p:cNvSpPr/>
          <p:nvPr/>
        </p:nvSpPr>
        <p:spPr>
          <a:xfrm>
            <a:off x="2556813" y="3633975"/>
            <a:ext cx="1376400" cy="725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4" name="Google Shape;284;p28"/>
          <p:cNvSpPr/>
          <p:nvPr/>
        </p:nvSpPr>
        <p:spPr>
          <a:xfrm>
            <a:off x="4266463" y="3661500"/>
            <a:ext cx="1376400" cy="725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5" name="Google Shape;285;p28"/>
          <p:cNvSpPr/>
          <p:nvPr/>
        </p:nvSpPr>
        <p:spPr>
          <a:xfrm>
            <a:off x="5976113" y="3661500"/>
            <a:ext cx="2068800" cy="725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6" name="Google Shape;286;p28"/>
          <p:cNvSpPr txBox="1"/>
          <p:nvPr/>
        </p:nvSpPr>
        <p:spPr>
          <a:xfrm>
            <a:off x="947163" y="3804150"/>
            <a:ext cx="1081200" cy="43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solidFill>
                  <a:schemeClr val="dk1"/>
                </a:solidFill>
              </a:rPr>
              <a:t>Load data</a:t>
            </a:r>
            <a:endParaRPr sz="1200">
              <a:solidFill>
                <a:schemeClr val="dk1"/>
              </a:solidFill>
            </a:endParaRPr>
          </a:p>
        </p:txBody>
      </p:sp>
      <p:sp>
        <p:nvSpPr>
          <p:cNvPr id="287" name="Google Shape;287;p28"/>
          <p:cNvSpPr txBox="1"/>
          <p:nvPr/>
        </p:nvSpPr>
        <p:spPr>
          <a:xfrm>
            <a:off x="4380613" y="3661500"/>
            <a:ext cx="11481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panose="020B0704020202020204"/>
              <a:buNone/>
            </a:pPr>
            <a:r>
              <a:rPr lang="en-GB" sz="1200">
                <a:solidFill>
                  <a:srgbClr val="0E0E0E"/>
                </a:solidFill>
              </a:rPr>
              <a:t>Extracting features using Wav2Vec2</a:t>
            </a:r>
            <a:endParaRPr sz="1200">
              <a:solidFill>
                <a:srgbClr val="0E0E0E"/>
              </a:solidFill>
            </a:endParaRPr>
          </a:p>
          <a:p>
            <a:pPr marL="0" lvl="0" indent="0" algn="ctr" rtl="0">
              <a:spcBef>
                <a:spcPts val="0"/>
              </a:spcBef>
              <a:spcAft>
                <a:spcPts val="0"/>
              </a:spcAft>
              <a:buNone/>
            </a:pPr>
            <a:endParaRPr sz="1200">
              <a:solidFill>
                <a:schemeClr val="dk2"/>
              </a:solidFill>
            </a:endParaRPr>
          </a:p>
        </p:txBody>
      </p:sp>
      <p:sp>
        <p:nvSpPr>
          <p:cNvPr id="288" name="Google Shape;288;p28"/>
          <p:cNvSpPr txBox="1"/>
          <p:nvPr/>
        </p:nvSpPr>
        <p:spPr>
          <a:xfrm>
            <a:off x="2626925" y="3627900"/>
            <a:ext cx="1188600" cy="63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panose="020B0704020202020204"/>
              <a:buNone/>
            </a:pPr>
            <a:r>
              <a:rPr lang="en-GB" sz="1200">
                <a:solidFill>
                  <a:srgbClr val="0E0E0E"/>
                </a:solidFill>
              </a:rPr>
              <a:t>Metric GAN+ to clean noisy input</a:t>
            </a:r>
            <a:endParaRPr sz="1200">
              <a:solidFill>
                <a:srgbClr val="0E0E0E"/>
              </a:solidFill>
            </a:endParaRPr>
          </a:p>
          <a:p>
            <a:pPr marL="0" lvl="0" indent="0" algn="ctr" rtl="0">
              <a:spcBef>
                <a:spcPts val="0"/>
              </a:spcBef>
              <a:spcAft>
                <a:spcPts val="0"/>
              </a:spcAft>
              <a:buNone/>
            </a:pPr>
            <a:endParaRPr sz="1200">
              <a:solidFill>
                <a:schemeClr val="dk2"/>
              </a:solidFill>
            </a:endParaRPr>
          </a:p>
        </p:txBody>
      </p:sp>
      <p:sp>
        <p:nvSpPr>
          <p:cNvPr id="289" name="Google Shape;289;p28"/>
          <p:cNvSpPr/>
          <p:nvPr/>
        </p:nvSpPr>
        <p:spPr>
          <a:xfrm>
            <a:off x="3794243" y="3936750"/>
            <a:ext cx="565200" cy="174600"/>
          </a:xfrm>
          <a:prstGeom prst="rightArrow">
            <a:avLst>
              <a:gd name="adj1" fmla="val 50000"/>
              <a:gd name="adj2" fmla="val 50000"/>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90" name="Google Shape;290;p28"/>
          <p:cNvSpPr/>
          <p:nvPr/>
        </p:nvSpPr>
        <p:spPr>
          <a:xfrm>
            <a:off x="5505002" y="3936750"/>
            <a:ext cx="565200" cy="174600"/>
          </a:xfrm>
          <a:prstGeom prst="rightArrow">
            <a:avLst>
              <a:gd name="adj1" fmla="val 50000"/>
              <a:gd name="adj2" fmla="val 50000"/>
            </a:avLst>
          </a:prstGeom>
          <a:solidFill>
            <a:srgbClr val="0000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91" name="Google Shape;291;p28"/>
          <p:cNvSpPr txBox="1"/>
          <p:nvPr/>
        </p:nvSpPr>
        <p:spPr>
          <a:xfrm>
            <a:off x="6178113" y="3661500"/>
            <a:ext cx="1772700" cy="43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panose="020B0704020202020204"/>
              <a:buNone/>
            </a:pPr>
            <a:r>
              <a:rPr lang="en-GB" sz="1200">
                <a:solidFill>
                  <a:srgbClr val="0E0E0E"/>
                </a:solidFill>
              </a:rPr>
              <a:t>Map emotion labels using trained label encoder</a:t>
            </a:r>
            <a:endParaRPr sz="1200">
              <a:solidFill>
                <a:srgbClr val="0E0E0E"/>
              </a:solidFill>
            </a:endParaRPr>
          </a:p>
          <a:p>
            <a:pPr marL="0" lvl="0" indent="0" algn="ctr" rtl="0">
              <a:spcBef>
                <a:spcPts val="0"/>
              </a:spcBef>
              <a:spcAft>
                <a:spcPts val="0"/>
              </a:spcAft>
              <a:buNone/>
            </a:pPr>
            <a:endParaRPr sz="1200">
              <a:solidFill>
                <a:schemeClr val="dk2"/>
              </a:solidFill>
            </a:endParaRPr>
          </a:p>
        </p:txBody>
      </p:sp>
      <p:sp>
        <p:nvSpPr>
          <p:cNvPr id="292" name="Google Shape;292;p28"/>
          <p:cNvSpPr/>
          <p:nvPr/>
        </p:nvSpPr>
        <p:spPr>
          <a:xfrm>
            <a:off x="2083493" y="3909225"/>
            <a:ext cx="565200" cy="174600"/>
          </a:xfrm>
          <a:prstGeom prst="rightArrow">
            <a:avLst>
              <a:gd name="adj1" fmla="val 50000"/>
              <a:gd name="adj2" fmla="val 50000"/>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9"/>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98" name="Google Shape;298;p29"/>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GAN Comparison</a:t>
            </a:r>
            <a:endParaRPr sz="3000" b="1">
              <a:solidFill>
                <a:schemeClr val="lt1"/>
              </a:solidFill>
            </a:endParaRPr>
          </a:p>
        </p:txBody>
      </p:sp>
      <p:sp>
        <p:nvSpPr>
          <p:cNvPr id="299" name="Google Shape;299;p29"/>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00" name="Google Shape;300;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17</a:t>
            </a:r>
            <a:endParaRPr lang="en-GB">
              <a:solidFill>
                <a:schemeClr val="lt1"/>
              </a:solidFill>
            </a:endParaRPr>
          </a:p>
        </p:txBody>
      </p:sp>
      <p:sp>
        <p:nvSpPr>
          <p:cNvPr id="301" name="Google Shape;301;p29"/>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Using SNR 5 dB noise</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Original</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74%</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Noisy</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18%</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SEGAN</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30%</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MetricGAN</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51%</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0"/>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07" name="Google Shape;307;p30"/>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Results</a:t>
            </a:r>
            <a:endParaRPr sz="3000" b="1">
              <a:solidFill>
                <a:schemeClr val="lt1"/>
              </a:solidFill>
            </a:endParaRPr>
          </a:p>
        </p:txBody>
      </p:sp>
      <p:sp>
        <p:nvSpPr>
          <p:cNvPr id="308" name="Google Shape;308;p30"/>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Using MetricGAN denoising on RAVDESS + ESC-50 with SNR 5 dB</a:t>
            </a:r>
            <a:endParaRPr>
              <a:solidFill>
                <a:schemeClr val="dk1"/>
              </a:solidFill>
            </a:endParaRPr>
          </a:p>
        </p:txBody>
      </p:sp>
      <p:sp>
        <p:nvSpPr>
          <p:cNvPr id="309" name="Google Shape;309;p30"/>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0" name="Google Shape;31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18</a:t>
            </a:r>
            <a:endParaRPr lang="en-GB">
              <a:solidFill>
                <a:schemeClr val="lt1"/>
              </a:solidFill>
            </a:endParaRPr>
          </a:p>
        </p:txBody>
      </p:sp>
      <p:sp>
        <p:nvSpPr>
          <p:cNvPr id="311" name="Google Shape;311;p30"/>
          <p:cNvSpPr txBox="1"/>
          <p:nvPr/>
        </p:nvSpPr>
        <p:spPr>
          <a:xfrm>
            <a:off x="920650" y="1868813"/>
            <a:ext cx="1925400" cy="23859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2000">
                <a:solidFill>
                  <a:schemeClr val="dk1"/>
                </a:solidFill>
              </a:rPr>
              <a:t>CLEAN</a:t>
            </a: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ctr" rtl="0">
              <a:spcBef>
                <a:spcPts val="0"/>
              </a:spcBef>
              <a:spcAft>
                <a:spcPts val="0"/>
              </a:spcAft>
              <a:buNone/>
            </a:pPr>
            <a:r>
              <a:rPr lang="en-GB" sz="3200">
                <a:solidFill>
                  <a:schemeClr val="dk1"/>
                </a:solidFill>
              </a:rPr>
              <a:t>74.7%</a:t>
            </a:r>
            <a:endParaRPr sz="3200">
              <a:solidFill>
                <a:schemeClr val="dk1"/>
              </a:solidFill>
            </a:endParaRPr>
          </a:p>
        </p:txBody>
      </p:sp>
      <p:sp>
        <p:nvSpPr>
          <p:cNvPr id="312" name="Google Shape;312;p30"/>
          <p:cNvSpPr txBox="1"/>
          <p:nvPr/>
        </p:nvSpPr>
        <p:spPr>
          <a:xfrm>
            <a:off x="3483600" y="1868825"/>
            <a:ext cx="1824900" cy="23859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2000">
                <a:solidFill>
                  <a:schemeClr val="dk1"/>
                </a:solidFill>
              </a:rPr>
              <a:t>NOISY</a:t>
            </a: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ctr" rtl="0">
              <a:spcBef>
                <a:spcPts val="0"/>
              </a:spcBef>
              <a:spcAft>
                <a:spcPts val="0"/>
              </a:spcAft>
              <a:buNone/>
            </a:pPr>
            <a:endParaRPr sz="2000">
              <a:solidFill>
                <a:schemeClr val="dk1"/>
              </a:solidFill>
            </a:endParaRPr>
          </a:p>
          <a:p>
            <a:pPr marL="0" lvl="0" indent="0" algn="l" rtl="0">
              <a:spcBef>
                <a:spcPts val="0"/>
              </a:spcBef>
              <a:spcAft>
                <a:spcPts val="0"/>
              </a:spcAft>
              <a:buNone/>
            </a:pPr>
            <a:endParaRPr sz="2000">
              <a:solidFill>
                <a:schemeClr val="dk1"/>
              </a:solidFill>
            </a:endParaRPr>
          </a:p>
          <a:p>
            <a:pPr marL="0" lvl="0" indent="0" algn="ctr" rtl="0">
              <a:spcBef>
                <a:spcPts val="0"/>
              </a:spcBef>
              <a:spcAft>
                <a:spcPts val="0"/>
              </a:spcAft>
              <a:buNone/>
            </a:pPr>
            <a:r>
              <a:rPr lang="en-GB" sz="3200">
                <a:solidFill>
                  <a:schemeClr val="dk1"/>
                </a:solidFill>
              </a:rPr>
              <a:t>18.8%</a:t>
            </a:r>
            <a:endParaRPr sz="3200">
              <a:solidFill>
                <a:schemeClr val="dk1"/>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313" name="Google Shape;313;p30"/>
          <p:cNvSpPr txBox="1"/>
          <p:nvPr/>
        </p:nvSpPr>
        <p:spPr>
          <a:xfrm>
            <a:off x="5946050" y="1868825"/>
            <a:ext cx="1824900" cy="23859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2000" dirty="0">
                <a:solidFill>
                  <a:schemeClr val="dk1"/>
                </a:solidFill>
              </a:rPr>
              <a:t>DENOISED</a:t>
            </a:r>
            <a:endParaRPr sz="2000" dirty="0">
              <a:solidFill>
                <a:schemeClr val="dk1"/>
              </a:solidFill>
            </a:endParaRPr>
          </a:p>
          <a:p>
            <a:pPr marL="0" lvl="0" indent="0" algn="ctr" rtl="0">
              <a:spcBef>
                <a:spcPts val="0"/>
              </a:spcBef>
              <a:spcAft>
                <a:spcPts val="0"/>
              </a:spcAft>
              <a:buNone/>
            </a:pPr>
            <a:endParaRPr sz="2000" dirty="0">
              <a:solidFill>
                <a:schemeClr val="dk1"/>
              </a:solidFill>
            </a:endParaRPr>
          </a:p>
          <a:p>
            <a:pPr marL="0" lvl="0" indent="0" algn="ctr" rtl="0">
              <a:spcBef>
                <a:spcPts val="0"/>
              </a:spcBef>
              <a:spcAft>
                <a:spcPts val="0"/>
              </a:spcAft>
              <a:buNone/>
            </a:pPr>
            <a:endParaRPr sz="2000" dirty="0">
              <a:solidFill>
                <a:schemeClr val="dk1"/>
              </a:solidFill>
            </a:endParaRPr>
          </a:p>
          <a:p>
            <a:pPr marL="0" lvl="0" indent="0" algn="ctr" rtl="0">
              <a:spcBef>
                <a:spcPts val="0"/>
              </a:spcBef>
              <a:spcAft>
                <a:spcPts val="0"/>
              </a:spcAft>
              <a:buNone/>
            </a:pP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ctr" rtl="0">
              <a:spcBef>
                <a:spcPts val="0"/>
              </a:spcBef>
              <a:spcAft>
                <a:spcPts val="0"/>
              </a:spcAft>
              <a:buNone/>
            </a:pPr>
            <a:r>
              <a:rPr lang="en-GB" sz="3200" dirty="0">
                <a:solidFill>
                  <a:schemeClr val="dk1"/>
                </a:solidFill>
              </a:rPr>
              <a:t>51.4%</a:t>
            </a:r>
            <a:endParaRPr sz="3200" dirty="0">
              <a:solidFill>
                <a:schemeClr val="dk1"/>
              </a:solidFill>
            </a:endParaRPr>
          </a:p>
        </p:txBody>
      </p:sp>
      <p:sp>
        <p:nvSpPr>
          <p:cNvPr id="317" name="Google Shape;317;p30"/>
          <p:cNvSpPr/>
          <p:nvPr/>
        </p:nvSpPr>
        <p:spPr>
          <a:xfrm>
            <a:off x="4270638" y="2938200"/>
            <a:ext cx="196800" cy="393600"/>
          </a:xfrm>
          <a:prstGeom prst="downArrow">
            <a:avLst>
              <a:gd name="adj1" fmla="val 50000"/>
              <a:gd name="adj2" fmla="val 50000"/>
            </a:avLst>
          </a:prstGeom>
          <a:solidFill>
            <a:srgbClr val="FF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8" name="Google Shape;318;p30"/>
          <p:cNvSpPr/>
          <p:nvPr/>
        </p:nvSpPr>
        <p:spPr>
          <a:xfrm rot="10800000">
            <a:off x="6763963" y="2938200"/>
            <a:ext cx="196800" cy="393600"/>
          </a:xfrm>
          <a:prstGeom prst="downArrow">
            <a:avLst>
              <a:gd name="adj1" fmla="val 50000"/>
              <a:gd name="adj2" fmla="val 50000"/>
            </a:avLst>
          </a:prstGeom>
          <a:solidFill>
            <a:srgbClr val="38761D"/>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19" name="Google Shape;319;p30"/>
          <p:cNvSpPr/>
          <p:nvPr/>
        </p:nvSpPr>
        <p:spPr>
          <a:xfrm>
            <a:off x="1690413" y="2896050"/>
            <a:ext cx="393600" cy="393600"/>
          </a:xfrm>
          <a:prstGeom prst="mathMin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pic>
        <p:nvPicPr>
          <p:cNvPr id="2" name="03-01-06-02-01-02-04.wav">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606456" y="2342851"/>
            <a:ext cx="553787" cy="553787"/>
          </a:xfrm>
          <a:prstGeom prst="rect">
            <a:avLst/>
          </a:prstGeom>
        </p:spPr>
      </p:pic>
      <p:pic>
        <p:nvPicPr>
          <p:cNvPr id="3" name="noisy_2_0dB.wav">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3"/>
          <a:stretch>
            <a:fillRect/>
          </a:stretch>
        </p:blipFill>
        <p:spPr>
          <a:xfrm>
            <a:off x="4119450" y="2342851"/>
            <a:ext cx="553199" cy="553199"/>
          </a:xfrm>
          <a:prstGeom prst="rect">
            <a:avLst/>
          </a:prstGeom>
        </p:spPr>
      </p:pic>
      <p:pic>
        <p:nvPicPr>
          <p:cNvPr id="4" name="enhanced_audio_gan.wav">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3"/>
          <a:stretch>
            <a:fillRect/>
          </a:stretch>
        </p:blipFill>
        <p:spPr>
          <a:xfrm>
            <a:off x="6570927" y="2298331"/>
            <a:ext cx="575145" cy="5751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03"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737"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73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2"/>
                </p:tgtEl>
              </p:cMediaNode>
            </p:audio>
            <p:audio>
              <p:cMediaNode vol="80000">
                <p:cTn id="16" fill="hold" display="0">
                  <p:stCondLst>
                    <p:cond delay="indefinite"/>
                  </p:stCondLst>
                  <p:endCondLst>
                    <p:cond evt="onStopAudio" delay="0">
                      <p:tgtEl>
                        <p:sldTgt/>
                      </p:tgtEl>
                    </p:cond>
                  </p:endCondLst>
                </p:cTn>
                <p:tgtEl>
                  <p:spTgt spid="3"/>
                </p:tgtEl>
              </p:cMediaNode>
            </p:audio>
            <p:audio>
              <p:cMediaNode vol="80000">
                <p:cTn id="1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1"/>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25" name="Google Shape;325;p31"/>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MELD Dataset </a:t>
            </a:r>
            <a:endParaRPr sz="3000" b="1">
              <a:solidFill>
                <a:schemeClr val="lt1"/>
              </a:solidFill>
            </a:endParaRPr>
          </a:p>
        </p:txBody>
      </p:sp>
      <p:sp>
        <p:nvSpPr>
          <p:cNvPr id="326" name="Google Shape;326;p31"/>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27" name="Google Shape;327;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19</a:t>
            </a:r>
            <a:endParaRPr lang="en-GB">
              <a:solidFill>
                <a:schemeClr val="lt1"/>
              </a:solidFill>
            </a:endParaRPr>
          </a:p>
        </p:txBody>
      </p:sp>
      <p:sp>
        <p:nvSpPr>
          <p:cNvPr id="328" name="Google Shape;328;p31"/>
          <p:cNvSpPr txBox="1"/>
          <p:nvPr/>
        </p:nvSpPr>
        <p:spPr>
          <a:xfrm>
            <a:off x="0" y="1061400"/>
            <a:ext cx="4703700" cy="364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800" i="1">
                <a:solidFill>
                  <a:schemeClr val="dk1"/>
                </a:solidFill>
              </a:rPr>
              <a:t>Introduction:</a:t>
            </a:r>
            <a:endParaRPr sz="1800" i="1">
              <a:solidFill>
                <a:schemeClr val="dk1"/>
              </a:solidFill>
            </a:endParaRPr>
          </a:p>
          <a:p>
            <a:pPr marL="0" lvl="0" indent="0" algn="l" rtl="0">
              <a:lnSpc>
                <a:spcPct val="115000"/>
              </a:lnSpc>
              <a:spcBef>
                <a:spcPts val="1200"/>
              </a:spcBef>
              <a:spcAft>
                <a:spcPts val="1200"/>
              </a:spcAft>
              <a:buClr>
                <a:schemeClr val="dk1"/>
              </a:buClr>
              <a:buSzPts val="1100"/>
              <a:buFont typeface="Arial" panose="020B0704020202020204"/>
              <a:buNone/>
            </a:pPr>
            <a:r>
              <a:rPr lang="en-GB">
                <a:solidFill>
                  <a:schemeClr val="dk1"/>
                </a:solidFill>
              </a:rPr>
              <a:t>Multimodal EmotionLines Dataset (MELD) has been created by enhancing and extending EmotionLines dataset. MELD contains the same dialogue instances available in EmotionLines, but it also encompasses audio and visual modality along with text. MELD has more than 1400 dialogues and 13000 utterances from Friends TV series. Multiple speakers participated in the dialogues. Each utterance in a dialogue has been labeled by any of these seven emotions -- Anger, Disgust, Sadness, Joy, Neutral, Surprise and Fear. MELD also has sentiment (positive, negative and neutral) annotation for each utterance.</a:t>
            </a:r>
            <a:endParaRPr>
              <a:solidFill>
                <a:schemeClr val="dk1"/>
              </a:solidFill>
            </a:endParaRPr>
          </a:p>
        </p:txBody>
      </p:sp>
      <p:pic>
        <p:nvPicPr>
          <p:cNvPr id="329" name="Google Shape;329;p31"/>
          <p:cNvPicPr preferRelativeResize="0"/>
          <p:nvPr/>
        </p:nvPicPr>
        <p:blipFill>
          <a:blip r:embed="rId1"/>
          <a:stretch>
            <a:fillRect/>
          </a:stretch>
        </p:blipFill>
        <p:spPr>
          <a:xfrm>
            <a:off x="4876850" y="1726200"/>
            <a:ext cx="4102574" cy="1917074"/>
          </a:xfrm>
          <a:prstGeom prst="rect">
            <a:avLst/>
          </a:prstGeom>
          <a:noFill/>
          <a:ln>
            <a:noFill/>
          </a:ln>
        </p:spPr>
      </p:pic>
      <p:pic>
        <p:nvPicPr>
          <p:cNvPr id="2" name="audio_20.wav">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6430737" y="3861209"/>
            <a:ext cx="557222" cy="557222"/>
          </a:xfrm>
          <a:prstGeom prst="rect">
            <a:avLst/>
          </a:prstGeom>
        </p:spPr>
      </p:pic>
      <p:pic>
        <p:nvPicPr>
          <p:cNvPr id="3" name="audio_21.wav">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4"/>
          <a:stretch>
            <a:fillRect/>
          </a:stretch>
        </p:blipFill>
        <p:spPr>
          <a:xfrm>
            <a:off x="5148764" y="3827493"/>
            <a:ext cx="590938" cy="590938"/>
          </a:xfrm>
          <a:prstGeom prst="rect">
            <a:avLst/>
          </a:prstGeom>
        </p:spPr>
      </p:pic>
      <p:pic>
        <p:nvPicPr>
          <p:cNvPr id="4" name="audio_24.wav">
            <a:hlinkClick r:id="" action="ppaction://media"/>
          </p:cNvPr>
          <p:cNvPicPr>
            <a:picLocks noChangeAspect="1"/>
          </p:cNvPicPr>
          <p:nvPr>
            <a:audioFile r:link="rId7"/>
            <p:extLst>
              <p:ext uri="{DAA4B4D4-6D71-4841-9C94-3DE7FCFB9230}">
                <p14:media xmlns:p14="http://schemas.microsoft.com/office/powerpoint/2010/main" r:embed="rId8"/>
              </p:ext>
            </p:extLst>
          </p:nvPr>
        </p:nvPicPr>
        <p:blipFill>
          <a:blip r:embed="rId4"/>
          <a:stretch>
            <a:fillRect/>
          </a:stretch>
        </p:blipFill>
        <p:spPr>
          <a:xfrm>
            <a:off x="7888501" y="3861209"/>
            <a:ext cx="563017" cy="5630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9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960"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1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2"/>
                </p:tgtEl>
              </p:cMediaNode>
            </p:audio>
            <p:audio>
              <p:cMediaNode vol="80000">
                <p:cTn id="16" fill="hold" display="0">
                  <p:stCondLst>
                    <p:cond delay="indefinite"/>
                  </p:stCondLst>
                  <p:endCondLst>
                    <p:cond evt="onStopAudio" delay="0">
                      <p:tgtEl>
                        <p:sldTgt/>
                      </p:tgtEl>
                    </p:cond>
                  </p:endCondLst>
                </p:cTn>
                <p:tgtEl>
                  <p:spTgt spid="3"/>
                </p:tgtEl>
              </p:cMediaNode>
            </p:audio>
            <p:audio>
              <p:cMediaNode vol="80000">
                <p:cTn id="17" fill="hold" display="0">
                  <p:stCondLst>
                    <p:cond delay="indefinite"/>
                  </p:stCondLst>
                  <p:endCondLst>
                    <p:cond evt="onStopAudio" delay="0">
                      <p:tgtEl>
                        <p:sldTgt/>
                      </p:tgtEl>
                    </p:cond>
                  </p:endCondLst>
                </p:cTn>
                <p:tgtEl>
                  <p:spTgt spid="4"/>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2"/>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38" name="Google Shape;338;p32"/>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Data Preprocessing </a:t>
            </a:r>
            <a:endParaRPr sz="3000" b="1">
              <a:solidFill>
                <a:schemeClr val="lt1"/>
              </a:solidFill>
            </a:endParaRPr>
          </a:p>
        </p:txBody>
      </p:sp>
      <p:sp>
        <p:nvSpPr>
          <p:cNvPr id="339" name="Google Shape;339;p32"/>
          <p:cNvSpPr txBox="1">
            <a:spLocks noGrp="1"/>
          </p:cNvSpPr>
          <p:nvPr>
            <p:ph type="body" idx="1"/>
          </p:nvPr>
        </p:nvSpPr>
        <p:spPr>
          <a:xfrm>
            <a:off x="0" y="1061400"/>
            <a:ext cx="4536900" cy="35829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GB" i="1">
                <a:solidFill>
                  <a:schemeClr val="dk1"/>
                </a:solidFill>
              </a:rPr>
              <a:t>Converting Videos to Audios</a:t>
            </a:r>
            <a:endParaRPr i="1">
              <a:solidFill>
                <a:schemeClr val="dk1"/>
              </a:solidFill>
            </a:endParaRPr>
          </a:p>
          <a:p>
            <a:pPr marL="0" lvl="0" indent="0" algn="l" rtl="0">
              <a:spcBef>
                <a:spcPts val="1200"/>
              </a:spcBef>
              <a:spcAft>
                <a:spcPts val="0"/>
              </a:spcAft>
              <a:buNone/>
            </a:pPr>
            <a:r>
              <a:rPr lang="en-GB" sz="1400">
                <a:solidFill>
                  <a:schemeClr val="dk1"/>
                </a:solidFill>
              </a:rPr>
              <a:t>The reasons we did not use videos are listed below:</a:t>
            </a:r>
            <a:endParaRPr sz="1400">
              <a:solidFill>
                <a:schemeClr val="dk1"/>
              </a:solidFill>
            </a:endParaRPr>
          </a:p>
          <a:p>
            <a:pPr marL="457200" lvl="0" indent="-317500" algn="l" rtl="0">
              <a:spcBef>
                <a:spcPts val="1200"/>
              </a:spcBef>
              <a:spcAft>
                <a:spcPts val="0"/>
              </a:spcAft>
              <a:buClr>
                <a:schemeClr val="dk1"/>
              </a:buClr>
              <a:buSzPts val="1400"/>
              <a:buAutoNum type="arabicPeriod"/>
            </a:pPr>
            <a:r>
              <a:rPr lang="en-GB" sz="1400">
                <a:solidFill>
                  <a:schemeClr val="dk1"/>
                </a:solidFill>
              </a:rPr>
              <a:t>While more information, such as facial expressions and body language, provides more context, these features do not always directly correspond to the emotion of a single sentence.</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GB" sz="1400">
                <a:solidFill>
                  <a:schemeClr val="dk1"/>
                </a:solidFill>
              </a:rPr>
              <a:t>This will include some emotion-unrelated features such as lighting conditions, background objects, or camera angles.</a:t>
            </a:r>
            <a:endParaRPr sz="1400">
              <a:solidFill>
                <a:schemeClr val="dk1"/>
              </a:solidFill>
            </a:endParaRPr>
          </a:p>
          <a:p>
            <a:pPr marL="457200" lvl="0" indent="-317500" algn="l" rtl="0">
              <a:spcBef>
                <a:spcPts val="0"/>
              </a:spcBef>
              <a:spcAft>
                <a:spcPts val="0"/>
              </a:spcAft>
              <a:buClr>
                <a:schemeClr val="dk1"/>
              </a:buClr>
              <a:buSzPts val="1400"/>
              <a:buAutoNum type="arabicPeriod"/>
            </a:pPr>
            <a:r>
              <a:rPr lang="en-GB" sz="1400">
                <a:solidFill>
                  <a:schemeClr val="dk1"/>
                </a:solidFill>
              </a:rPr>
              <a:t>Video processing requires more computational resources and involves more complex models.</a:t>
            </a:r>
            <a:endParaRPr sz="1400">
              <a:solidFill>
                <a:schemeClr val="dk1"/>
              </a:solidFill>
            </a:endParaRPr>
          </a:p>
          <a:p>
            <a:pPr marL="1371600" lvl="0" indent="0" algn="l" rtl="0">
              <a:spcBef>
                <a:spcPts val="1200"/>
              </a:spcBef>
              <a:spcAft>
                <a:spcPts val="0"/>
              </a:spcAft>
              <a:buNone/>
            </a:pPr>
            <a:endParaRPr sz="1200">
              <a:solidFill>
                <a:schemeClr val="dk1"/>
              </a:solidFill>
            </a:endParaRPr>
          </a:p>
          <a:p>
            <a:pPr marL="457200" lvl="0" indent="0" algn="l" rtl="0">
              <a:spcBef>
                <a:spcPts val="1200"/>
              </a:spcBef>
              <a:spcAft>
                <a:spcPts val="1200"/>
              </a:spcAft>
              <a:buNone/>
            </a:pPr>
            <a:endParaRPr sz="1200">
              <a:solidFill>
                <a:schemeClr val="dk1"/>
              </a:solidFill>
            </a:endParaRPr>
          </a:p>
        </p:txBody>
      </p:sp>
      <p:sp>
        <p:nvSpPr>
          <p:cNvPr id="340" name="Google Shape;340;p32"/>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41" name="Google Shape;34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20</a:t>
            </a:r>
            <a:endParaRPr lang="en-GB">
              <a:solidFill>
                <a:schemeClr val="lt1"/>
              </a:solidFill>
            </a:endParaRPr>
          </a:p>
        </p:txBody>
      </p:sp>
      <p:pic>
        <p:nvPicPr>
          <p:cNvPr id="342" name="Google Shape;342;p32"/>
          <p:cNvPicPr preferRelativeResize="0"/>
          <p:nvPr/>
        </p:nvPicPr>
        <p:blipFill>
          <a:blip r:embed="rId1"/>
          <a:stretch>
            <a:fillRect/>
          </a:stretch>
        </p:blipFill>
        <p:spPr>
          <a:xfrm>
            <a:off x="4572000" y="1423775"/>
            <a:ext cx="4302299" cy="229595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3"/>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48" name="Google Shape;348;p33"/>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Data Preprocessing</a:t>
            </a:r>
            <a:endParaRPr sz="3000" b="1">
              <a:solidFill>
                <a:schemeClr val="lt1"/>
              </a:solidFill>
            </a:endParaRPr>
          </a:p>
        </p:txBody>
      </p:sp>
      <p:sp>
        <p:nvSpPr>
          <p:cNvPr id="349" name="Google Shape;349;p33"/>
          <p:cNvSpPr txBox="1">
            <a:spLocks noGrp="1"/>
          </p:cNvSpPr>
          <p:nvPr>
            <p:ph type="body" idx="1"/>
          </p:nvPr>
        </p:nvSpPr>
        <p:spPr>
          <a:xfrm>
            <a:off x="0" y="1061400"/>
            <a:ext cx="91440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SzPts val="523"/>
              <a:buNone/>
            </a:pPr>
            <a:r>
              <a:rPr lang="en-GB" sz="1810" i="1">
                <a:solidFill>
                  <a:schemeClr val="dk1"/>
                </a:solidFill>
              </a:rPr>
              <a:t>Balancing Data</a:t>
            </a:r>
            <a:endParaRPr sz="1600" i="1">
              <a:solidFill>
                <a:schemeClr val="dk1"/>
              </a:solidFill>
            </a:endParaRPr>
          </a:p>
        </p:txBody>
      </p:sp>
      <p:sp>
        <p:nvSpPr>
          <p:cNvPr id="350" name="Google Shape;350;p33"/>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51" name="Google Shape;35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21</a:t>
            </a:r>
            <a:endParaRPr lang="en-GB">
              <a:solidFill>
                <a:schemeClr val="lt1"/>
              </a:solidFill>
            </a:endParaRPr>
          </a:p>
        </p:txBody>
      </p:sp>
      <p:pic>
        <p:nvPicPr>
          <p:cNvPr id="352" name="Google Shape;352;p33"/>
          <p:cNvPicPr preferRelativeResize="0"/>
          <p:nvPr/>
        </p:nvPicPr>
        <p:blipFill>
          <a:blip r:embed="rId1"/>
          <a:stretch>
            <a:fillRect/>
          </a:stretch>
        </p:blipFill>
        <p:spPr>
          <a:xfrm>
            <a:off x="545538" y="2984675"/>
            <a:ext cx="2972525" cy="1486275"/>
          </a:xfrm>
          <a:prstGeom prst="rect">
            <a:avLst/>
          </a:prstGeom>
          <a:noFill/>
          <a:ln>
            <a:noFill/>
          </a:ln>
        </p:spPr>
      </p:pic>
      <p:pic>
        <p:nvPicPr>
          <p:cNvPr id="353" name="Google Shape;353;p33"/>
          <p:cNvPicPr preferRelativeResize="0"/>
          <p:nvPr/>
        </p:nvPicPr>
        <p:blipFill>
          <a:blip r:embed="rId2"/>
          <a:stretch>
            <a:fillRect/>
          </a:stretch>
        </p:blipFill>
        <p:spPr>
          <a:xfrm>
            <a:off x="545525" y="1455000"/>
            <a:ext cx="2972550" cy="1486275"/>
          </a:xfrm>
          <a:prstGeom prst="rect">
            <a:avLst/>
          </a:prstGeom>
          <a:noFill/>
          <a:ln>
            <a:noFill/>
          </a:ln>
        </p:spPr>
      </p:pic>
      <p:pic>
        <p:nvPicPr>
          <p:cNvPr id="354" name="Google Shape;354;p33"/>
          <p:cNvPicPr preferRelativeResize="0"/>
          <p:nvPr/>
        </p:nvPicPr>
        <p:blipFill>
          <a:blip r:embed="rId3"/>
          <a:stretch>
            <a:fillRect/>
          </a:stretch>
        </p:blipFill>
        <p:spPr>
          <a:xfrm>
            <a:off x="6304925" y="1570400"/>
            <a:ext cx="2839074" cy="2839074"/>
          </a:xfrm>
          <a:prstGeom prst="rect">
            <a:avLst/>
          </a:prstGeom>
          <a:noFill/>
          <a:ln>
            <a:noFill/>
          </a:ln>
        </p:spPr>
      </p:pic>
      <p:pic>
        <p:nvPicPr>
          <p:cNvPr id="355" name="Google Shape;355;p33"/>
          <p:cNvPicPr preferRelativeResize="0"/>
          <p:nvPr/>
        </p:nvPicPr>
        <p:blipFill>
          <a:blip r:embed="rId4"/>
          <a:stretch>
            <a:fillRect/>
          </a:stretch>
        </p:blipFill>
        <p:spPr>
          <a:xfrm>
            <a:off x="3518076" y="1620928"/>
            <a:ext cx="2738024" cy="27380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4"/>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61" name="Google Shape;361;p34"/>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3000" b="1">
                <a:solidFill>
                  <a:schemeClr val="lt1"/>
                </a:solidFill>
              </a:rPr>
              <a:t>Data Preprocessing</a:t>
            </a:r>
            <a:endParaRPr sz="3000" b="1">
              <a:solidFill>
                <a:schemeClr val="lt1"/>
              </a:solidFill>
            </a:endParaRPr>
          </a:p>
        </p:txBody>
      </p:sp>
      <p:sp>
        <p:nvSpPr>
          <p:cNvPr id="362" name="Google Shape;362;p34"/>
          <p:cNvSpPr txBox="1">
            <a:spLocks noGrp="1"/>
          </p:cNvSpPr>
          <p:nvPr>
            <p:ph type="body" idx="1"/>
          </p:nvPr>
        </p:nvSpPr>
        <p:spPr>
          <a:xfrm>
            <a:off x="0" y="1061400"/>
            <a:ext cx="4572000" cy="3642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i="1">
                <a:solidFill>
                  <a:schemeClr val="dk1"/>
                </a:solidFill>
              </a:rPr>
              <a:t>Cleaning Nonexistent/Repeated Data</a:t>
            </a:r>
            <a:endParaRPr i="1">
              <a:solidFill>
                <a:schemeClr val="dk1"/>
              </a:solidFill>
            </a:endParaRPr>
          </a:p>
          <a:p>
            <a:pPr marL="0" lvl="0" indent="0" algn="l" rtl="0">
              <a:spcBef>
                <a:spcPts val="1200"/>
              </a:spcBef>
              <a:spcAft>
                <a:spcPts val="1200"/>
              </a:spcAft>
              <a:buNone/>
            </a:pPr>
            <a:r>
              <a:rPr lang="en-GB" sz="1400">
                <a:solidFill>
                  <a:schemeClr val="dk1"/>
                </a:solidFill>
              </a:rPr>
              <a:t>Since there exist some repeated Sr. No. in the CSV file and some Sr. No. do not have correlated audio files, we need to write a script to deal with the data.</a:t>
            </a:r>
            <a:endParaRPr sz="1400">
              <a:solidFill>
                <a:schemeClr val="dk1"/>
              </a:solidFill>
            </a:endParaRPr>
          </a:p>
        </p:txBody>
      </p:sp>
      <p:sp>
        <p:nvSpPr>
          <p:cNvPr id="363" name="Google Shape;363;p34"/>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64" name="Google Shape;364;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22</a:t>
            </a:r>
            <a:endParaRPr lang="en-GB">
              <a:solidFill>
                <a:schemeClr val="lt1"/>
              </a:solidFill>
            </a:endParaRPr>
          </a:p>
        </p:txBody>
      </p:sp>
      <p:sp>
        <p:nvSpPr>
          <p:cNvPr id="365" name="Google Shape;365;p34"/>
          <p:cNvSpPr txBox="1"/>
          <p:nvPr/>
        </p:nvSpPr>
        <p:spPr>
          <a:xfrm>
            <a:off x="0" y="2234975"/>
            <a:ext cx="4468500" cy="246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a:solidFill>
                  <a:schemeClr val="dk2"/>
                </a:solidFill>
              </a:rPr>
              <a:t>def clean_csv(csv_file_path,folder_path,store_path):</a:t>
            </a:r>
            <a:endParaRPr sz="1000">
              <a:solidFill>
                <a:schemeClr val="dk2"/>
              </a:solidFill>
            </a:endParaRPr>
          </a:p>
          <a:p>
            <a:pPr marL="0" lvl="0" indent="0" algn="ctr" rtl="0">
              <a:spcBef>
                <a:spcPts val="0"/>
              </a:spcBef>
              <a:spcAft>
                <a:spcPts val="0"/>
              </a:spcAft>
              <a:buNone/>
            </a:pPr>
            <a:r>
              <a:rPr lang="en-GB" sz="1000">
                <a:solidFill>
                  <a:schemeClr val="dk2"/>
                </a:solidFill>
              </a:rPr>
              <a:t>    df = pd.read_csv(csv_file_path)</a:t>
            </a:r>
            <a:endParaRPr sz="1000">
              <a:solidFill>
                <a:schemeClr val="dk2"/>
              </a:solidFill>
            </a:endParaRPr>
          </a:p>
          <a:p>
            <a:pPr marL="0" lvl="0" indent="0" algn="ctr" rtl="0">
              <a:spcBef>
                <a:spcPts val="0"/>
              </a:spcBef>
              <a:spcAft>
                <a:spcPts val="0"/>
              </a:spcAft>
              <a:buNone/>
            </a:pPr>
            <a:endParaRPr sz="1000">
              <a:solidFill>
                <a:schemeClr val="dk2"/>
              </a:solidFill>
            </a:endParaRPr>
          </a:p>
          <a:p>
            <a:pPr marL="0" lvl="0" indent="0" algn="ctr" rtl="0">
              <a:spcBef>
                <a:spcPts val="0"/>
              </a:spcBef>
              <a:spcAft>
                <a:spcPts val="0"/>
              </a:spcAft>
              <a:buNone/>
            </a:pPr>
            <a:r>
              <a:rPr lang="en-GB" sz="1000">
                <a:solidFill>
                  <a:schemeClr val="dk2"/>
                </a:solidFill>
              </a:rPr>
              <a:t>    existing_files = []</a:t>
            </a:r>
            <a:endParaRPr sz="1000">
              <a:solidFill>
                <a:schemeClr val="dk2"/>
              </a:solidFill>
            </a:endParaRPr>
          </a:p>
          <a:p>
            <a:pPr marL="0" lvl="0" indent="0" algn="ctr" rtl="0">
              <a:spcBef>
                <a:spcPts val="0"/>
              </a:spcBef>
              <a:spcAft>
                <a:spcPts val="0"/>
              </a:spcAft>
              <a:buNone/>
            </a:pPr>
            <a:r>
              <a:rPr lang="en-GB" sz="1000">
                <a:solidFill>
                  <a:schemeClr val="dk2"/>
                </a:solidFill>
              </a:rPr>
              <a:t>    for index, row in df.iterrows():</a:t>
            </a:r>
            <a:endParaRPr sz="1000">
              <a:solidFill>
                <a:schemeClr val="dk2"/>
              </a:solidFill>
            </a:endParaRPr>
          </a:p>
          <a:p>
            <a:pPr marL="0" lvl="0" indent="0" algn="ctr" rtl="0">
              <a:spcBef>
                <a:spcPts val="0"/>
              </a:spcBef>
              <a:spcAft>
                <a:spcPts val="0"/>
              </a:spcAft>
              <a:buNone/>
            </a:pPr>
            <a:r>
              <a:rPr lang="en-GB" sz="1000">
                <a:solidFill>
                  <a:schemeClr val="dk2"/>
                </a:solidFill>
              </a:rPr>
              <a:t>        file_name = f"audio_{row['Sr No.']}.wav"</a:t>
            </a:r>
            <a:endParaRPr sz="1000">
              <a:solidFill>
                <a:schemeClr val="dk2"/>
              </a:solidFill>
            </a:endParaRPr>
          </a:p>
          <a:p>
            <a:pPr marL="0" lvl="0" indent="0" algn="ctr" rtl="0">
              <a:spcBef>
                <a:spcPts val="0"/>
              </a:spcBef>
              <a:spcAft>
                <a:spcPts val="0"/>
              </a:spcAft>
              <a:buNone/>
            </a:pPr>
            <a:r>
              <a:rPr lang="en-GB" sz="1000">
                <a:solidFill>
                  <a:schemeClr val="dk2"/>
                </a:solidFill>
              </a:rPr>
              <a:t>        file_path = os.path.join(folder_path, file_name)</a:t>
            </a:r>
            <a:endParaRPr sz="1000">
              <a:solidFill>
                <a:schemeClr val="dk2"/>
              </a:solidFill>
            </a:endParaRPr>
          </a:p>
          <a:p>
            <a:pPr marL="0" lvl="0" indent="0" algn="ctr" rtl="0">
              <a:spcBef>
                <a:spcPts val="0"/>
              </a:spcBef>
              <a:spcAft>
                <a:spcPts val="0"/>
              </a:spcAft>
              <a:buNone/>
            </a:pPr>
            <a:r>
              <a:rPr lang="en-GB" sz="1000">
                <a:solidFill>
                  <a:schemeClr val="dk2"/>
                </a:solidFill>
              </a:rPr>
              <a:t>        if os.path.exists(file_path):</a:t>
            </a:r>
            <a:endParaRPr sz="1000">
              <a:solidFill>
                <a:schemeClr val="dk2"/>
              </a:solidFill>
            </a:endParaRPr>
          </a:p>
          <a:p>
            <a:pPr marL="0" lvl="0" indent="0" algn="ctr" rtl="0">
              <a:spcBef>
                <a:spcPts val="0"/>
              </a:spcBef>
              <a:spcAft>
                <a:spcPts val="0"/>
              </a:spcAft>
              <a:buNone/>
            </a:pPr>
            <a:r>
              <a:rPr lang="en-GB" sz="1000">
                <a:solidFill>
                  <a:schemeClr val="dk2"/>
                </a:solidFill>
              </a:rPr>
              <a:t>            existing_files.append(row)</a:t>
            </a:r>
            <a:endParaRPr sz="1000">
              <a:solidFill>
                <a:schemeClr val="dk2"/>
              </a:solidFill>
            </a:endParaRPr>
          </a:p>
          <a:p>
            <a:pPr marL="0" lvl="0" indent="0" algn="ctr" rtl="0">
              <a:spcBef>
                <a:spcPts val="0"/>
              </a:spcBef>
              <a:spcAft>
                <a:spcPts val="0"/>
              </a:spcAft>
              <a:buNone/>
            </a:pPr>
            <a:endParaRPr sz="1000">
              <a:solidFill>
                <a:schemeClr val="dk2"/>
              </a:solidFill>
            </a:endParaRPr>
          </a:p>
          <a:p>
            <a:pPr marL="0" lvl="0" indent="0" algn="ctr" rtl="0">
              <a:spcBef>
                <a:spcPts val="0"/>
              </a:spcBef>
              <a:spcAft>
                <a:spcPts val="0"/>
              </a:spcAft>
              <a:buNone/>
            </a:pPr>
            <a:r>
              <a:rPr lang="en-GB" sz="1000">
                <a:solidFill>
                  <a:schemeClr val="dk2"/>
                </a:solidFill>
              </a:rPr>
              <a:t>    filtered_df = pd.DataFrame(existing_files)</a:t>
            </a:r>
            <a:endParaRPr sz="1000">
              <a:solidFill>
                <a:schemeClr val="dk2"/>
              </a:solidFill>
            </a:endParaRPr>
          </a:p>
          <a:p>
            <a:pPr marL="0" lvl="0" indent="0" algn="ctr" rtl="0">
              <a:spcBef>
                <a:spcPts val="0"/>
              </a:spcBef>
              <a:spcAft>
                <a:spcPts val="0"/>
              </a:spcAft>
              <a:buNone/>
            </a:pPr>
            <a:endParaRPr sz="1000">
              <a:solidFill>
                <a:schemeClr val="dk2"/>
              </a:solidFill>
            </a:endParaRPr>
          </a:p>
          <a:p>
            <a:pPr marL="0" lvl="0" indent="0" algn="ctr" rtl="0">
              <a:spcBef>
                <a:spcPts val="0"/>
              </a:spcBef>
              <a:spcAft>
                <a:spcPts val="0"/>
              </a:spcAft>
              <a:buNone/>
            </a:pPr>
            <a:r>
              <a:rPr lang="en-GB" sz="1000">
                <a:solidFill>
                  <a:schemeClr val="dk2"/>
                </a:solidFill>
              </a:rPr>
              <a:t>    filtered_df.to_csv(store_path, index=False)</a:t>
            </a:r>
            <a:endParaRPr sz="1000">
              <a:solidFill>
                <a:schemeClr val="dk2"/>
              </a:solidFill>
            </a:endParaRPr>
          </a:p>
          <a:p>
            <a:pPr marL="0" lvl="0" indent="0" algn="ctr" rtl="0">
              <a:spcBef>
                <a:spcPts val="0"/>
              </a:spcBef>
              <a:spcAft>
                <a:spcPts val="0"/>
              </a:spcAft>
              <a:buNone/>
            </a:pPr>
            <a:endParaRPr sz="1000">
              <a:solidFill>
                <a:schemeClr val="dk2"/>
              </a:solidFill>
            </a:endParaRPr>
          </a:p>
          <a:p>
            <a:pPr marL="0" lvl="0" indent="0" algn="ctr" rtl="0">
              <a:spcBef>
                <a:spcPts val="0"/>
              </a:spcBef>
              <a:spcAft>
                <a:spcPts val="0"/>
              </a:spcAft>
              <a:buClr>
                <a:schemeClr val="dk1"/>
              </a:buClr>
              <a:buSzPts val="1100"/>
              <a:buFont typeface="Arial" panose="020B0704020202020204"/>
              <a:buNone/>
            </a:pPr>
            <a:r>
              <a:rPr lang="en-GB" sz="1000">
                <a:solidFill>
                  <a:schemeClr val="dk2"/>
                </a:solidFill>
              </a:rPr>
              <a:t>    print(f"files are stored in {store_path}")</a:t>
            </a:r>
            <a:endParaRPr sz="1000">
              <a:solidFill>
                <a:schemeClr val="dk2"/>
              </a:solidFill>
            </a:endParaRPr>
          </a:p>
          <a:p>
            <a:pPr marL="0" lvl="0" indent="0" algn="l" rtl="0">
              <a:spcBef>
                <a:spcPts val="0"/>
              </a:spcBef>
              <a:spcAft>
                <a:spcPts val="0"/>
              </a:spcAft>
              <a:buClr>
                <a:schemeClr val="dk1"/>
              </a:buClr>
              <a:buSzPts val="1100"/>
              <a:buFont typeface="Arial" panose="020B0704020202020204"/>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366" name="Google Shape;366;p34"/>
          <p:cNvSpPr txBox="1"/>
          <p:nvPr/>
        </p:nvSpPr>
        <p:spPr>
          <a:xfrm>
            <a:off x="4595200" y="1049300"/>
            <a:ext cx="4548900" cy="3642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i="1">
                <a:solidFill>
                  <a:schemeClr val="dk1"/>
                </a:solidFill>
              </a:rPr>
              <a:t>Feature Extraction</a:t>
            </a:r>
            <a:endParaRPr sz="1800" i="1">
              <a:solidFill>
                <a:schemeClr val="dk1"/>
              </a:solidFill>
            </a:endParaRPr>
          </a:p>
          <a:p>
            <a:pPr marL="457200" lvl="0" indent="-317500" algn="l" rtl="0">
              <a:spcBef>
                <a:spcPts val="0"/>
              </a:spcBef>
              <a:spcAft>
                <a:spcPts val="0"/>
              </a:spcAft>
              <a:buClr>
                <a:schemeClr val="dk1"/>
              </a:buClr>
              <a:buSzPts val="1400"/>
              <a:buChar char="●"/>
            </a:pPr>
            <a:r>
              <a:rPr lang="en-GB">
                <a:solidFill>
                  <a:schemeClr val="dk1"/>
                </a:solidFill>
              </a:rPr>
              <a:t>MFCCs</a:t>
            </a:r>
            <a:endParaRPr>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endParaRPr sz="1200">
              <a:solidFill>
                <a:schemeClr val="dk1"/>
              </a:solidFill>
            </a:endParaRPr>
          </a:p>
          <a:p>
            <a:pPr marL="457200" lvl="0" indent="-317500" algn="l" rtl="0">
              <a:spcBef>
                <a:spcPts val="0"/>
              </a:spcBef>
              <a:spcAft>
                <a:spcPts val="0"/>
              </a:spcAft>
              <a:buClr>
                <a:schemeClr val="dk1"/>
              </a:buClr>
              <a:buSzPts val="1400"/>
              <a:buChar char="●"/>
            </a:pPr>
            <a:r>
              <a:rPr lang="en-GB">
                <a:solidFill>
                  <a:schemeClr val="dk1"/>
                </a:solidFill>
              </a:rPr>
              <a:t>Mel Spectrogram</a:t>
            </a:r>
            <a:endParaRPr>
              <a:solidFill>
                <a:schemeClr val="dk1"/>
              </a:solidFill>
            </a:endParaRPr>
          </a:p>
          <a:p>
            <a:pPr marL="0" lvl="0" indent="0" algn="l" rtl="0">
              <a:spcBef>
                <a:spcPts val="0"/>
              </a:spcBef>
              <a:spcAft>
                <a:spcPts val="0"/>
              </a:spcAft>
              <a:buNone/>
            </a:pPr>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67" name="Google Shape;367;p34"/>
          <p:cNvPicPr preferRelativeResize="0"/>
          <p:nvPr/>
        </p:nvPicPr>
        <p:blipFill>
          <a:blip r:embed="rId1"/>
          <a:stretch>
            <a:fillRect/>
          </a:stretch>
        </p:blipFill>
        <p:spPr>
          <a:xfrm>
            <a:off x="4850825" y="1639598"/>
            <a:ext cx="3117700" cy="1378050"/>
          </a:xfrm>
          <a:prstGeom prst="rect">
            <a:avLst/>
          </a:prstGeom>
          <a:noFill/>
          <a:ln>
            <a:noFill/>
          </a:ln>
        </p:spPr>
      </p:pic>
      <p:pic>
        <p:nvPicPr>
          <p:cNvPr id="368" name="Google Shape;368;p34"/>
          <p:cNvPicPr preferRelativeResize="0"/>
          <p:nvPr/>
        </p:nvPicPr>
        <p:blipFill>
          <a:blip r:embed="rId2"/>
          <a:stretch>
            <a:fillRect/>
          </a:stretch>
        </p:blipFill>
        <p:spPr>
          <a:xfrm>
            <a:off x="4850825" y="3236101"/>
            <a:ext cx="2312924" cy="1467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5"/>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4" name="Google Shape;374;p35"/>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Machine Learning Approach</a:t>
            </a:r>
            <a:endParaRPr sz="3000" b="1">
              <a:solidFill>
                <a:schemeClr val="lt1"/>
              </a:solidFill>
            </a:endParaRPr>
          </a:p>
        </p:txBody>
      </p:sp>
      <p:sp>
        <p:nvSpPr>
          <p:cNvPr id="375" name="Google Shape;375;p35"/>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SVM</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376" name="Google Shape;376;p35"/>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77" name="Google Shape;377;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23</a:t>
            </a:r>
            <a:endParaRPr lang="en-GB">
              <a:solidFill>
                <a:schemeClr val="lt1"/>
              </a:solidFill>
            </a:endParaRPr>
          </a:p>
        </p:txBody>
      </p:sp>
      <p:pic>
        <p:nvPicPr>
          <p:cNvPr id="378" name="Google Shape;378;p35"/>
          <p:cNvPicPr preferRelativeResize="0"/>
          <p:nvPr/>
        </p:nvPicPr>
        <p:blipFill>
          <a:blip r:embed="rId1"/>
          <a:stretch>
            <a:fillRect/>
          </a:stretch>
        </p:blipFill>
        <p:spPr>
          <a:xfrm>
            <a:off x="1321925" y="1238350"/>
            <a:ext cx="6086475" cy="3228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6"/>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84" name="Google Shape;384;p36"/>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Machine Learning Approach</a:t>
            </a:r>
            <a:endParaRPr sz="3000" b="1">
              <a:solidFill>
                <a:schemeClr val="lt1"/>
              </a:solidFill>
            </a:endParaRPr>
          </a:p>
        </p:txBody>
      </p:sp>
      <p:sp>
        <p:nvSpPr>
          <p:cNvPr id="385" name="Google Shape;385;p36"/>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GMM</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386" name="Google Shape;386;p36"/>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87" name="Google Shape;38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24</a:t>
            </a:r>
            <a:endParaRPr lang="en-GB">
              <a:solidFill>
                <a:schemeClr val="lt1"/>
              </a:solidFill>
            </a:endParaRPr>
          </a:p>
        </p:txBody>
      </p:sp>
      <p:pic>
        <p:nvPicPr>
          <p:cNvPr id="388" name="Google Shape;388;p36"/>
          <p:cNvPicPr preferRelativeResize="0"/>
          <p:nvPr/>
        </p:nvPicPr>
        <p:blipFill>
          <a:blip r:embed="rId1"/>
          <a:stretch>
            <a:fillRect/>
          </a:stretch>
        </p:blipFill>
        <p:spPr>
          <a:xfrm>
            <a:off x="1521963" y="1167150"/>
            <a:ext cx="5686425" cy="3467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7"/>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94" name="Google Shape;394;p37"/>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Machine Learning Approach</a:t>
            </a:r>
            <a:endParaRPr sz="3000" b="1">
              <a:solidFill>
                <a:schemeClr val="lt1"/>
              </a:solidFill>
            </a:endParaRPr>
          </a:p>
        </p:txBody>
      </p:sp>
      <p:sp>
        <p:nvSpPr>
          <p:cNvPr id="395" name="Google Shape;395;p37"/>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Gradient Boosting</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396" name="Google Shape;396;p37"/>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397" name="Google Shape;39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25</a:t>
            </a:r>
            <a:endParaRPr lang="en-GB">
              <a:solidFill>
                <a:schemeClr val="lt1"/>
              </a:solidFill>
            </a:endParaRPr>
          </a:p>
        </p:txBody>
      </p:sp>
      <p:pic>
        <p:nvPicPr>
          <p:cNvPr id="398" name="Google Shape;398;p37"/>
          <p:cNvPicPr preferRelativeResize="0"/>
          <p:nvPr/>
        </p:nvPicPr>
        <p:blipFill>
          <a:blip r:embed="rId1"/>
          <a:stretch>
            <a:fillRect/>
          </a:stretch>
        </p:blipFill>
        <p:spPr>
          <a:xfrm>
            <a:off x="2325388" y="1144188"/>
            <a:ext cx="5895975" cy="3476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8"/>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04" name="Google Shape;404;p38"/>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a:t>
            </a:r>
            <a:endParaRPr sz="3000" b="1">
              <a:solidFill>
                <a:schemeClr val="lt1"/>
              </a:solidFill>
            </a:endParaRPr>
          </a:p>
        </p:txBody>
      </p:sp>
      <p:sp>
        <p:nvSpPr>
          <p:cNvPr id="405" name="Google Shape;405;p38"/>
          <p:cNvSpPr txBox="1">
            <a:spLocks noGrp="1"/>
          </p:cNvSpPr>
          <p:nvPr>
            <p:ph type="body" idx="1"/>
          </p:nvPr>
        </p:nvSpPr>
        <p:spPr>
          <a:xfrm>
            <a:off x="0" y="1061400"/>
            <a:ext cx="4572000" cy="3678600"/>
          </a:xfrm>
          <a:prstGeom prst="rect">
            <a:avLst/>
          </a:prstGeom>
        </p:spPr>
        <p:txBody>
          <a:bodyPr spcFirstLastPara="1" wrap="square" lIns="91425" tIns="91425" rIns="91425" bIns="91425" anchor="t" anchorCtr="0">
            <a:normAutofit fontScale="40000"/>
          </a:bodyPr>
          <a:lstStyle/>
          <a:p>
            <a:pPr marL="0" lvl="0" indent="0" algn="l" rtl="0">
              <a:spcBef>
                <a:spcPts val="0"/>
              </a:spcBef>
              <a:spcAft>
                <a:spcPts val="0"/>
              </a:spcAft>
              <a:buNone/>
            </a:pPr>
            <a:r>
              <a:rPr lang="en-GB" sz="4500" i="1">
                <a:solidFill>
                  <a:schemeClr val="dk1"/>
                </a:solidFill>
              </a:rPr>
              <a:t>Hidden Unit BERT (HuBERT)</a:t>
            </a:r>
            <a:endParaRPr sz="4500" i="1">
              <a:solidFill>
                <a:schemeClr val="dk1"/>
              </a:solidFill>
            </a:endParaRPr>
          </a:p>
          <a:p>
            <a:pPr marL="0" lvl="0" indent="0" algn="l" rtl="0">
              <a:spcBef>
                <a:spcPts val="1200"/>
              </a:spcBef>
              <a:spcAft>
                <a:spcPts val="0"/>
              </a:spcAft>
              <a:buClr>
                <a:schemeClr val="dk1"/>
              </a:buClr>
              <a:buSzPct val="38000"/>
              <a:buFont typeface="Arial" panose="020B0704020202020204"/>
              <a:buNone/>
            </a:pPr>
            <a:r>
              <a:rPr lang="en-GB" sz="2900">
                <a:solidFill>
                  <a:schemeClr val="dk1"/>
                </a:solidFill>
              </a:rPr>
              <a:t>HuBERT (Hidden-Unit BERT) is a self-supervised speech representation learning model developed by Facebook AI. It is designed to learn robust audio representations from raw speech without the need for labeled data.</a:t>
            </a:r>
            <a:endParaRPr sz="2900">
              <a:solidFill>
                <a:schemeClr val="dk1"/>
              </a:solidFill>
            </a:endParaRPr>
          </a:p>
          <a:p>
            <a:pPr marL="0" lvl="0" indent="0" algn="l" rtl="0">
              <a:spcBef>
                <a:spcPts val="1200"/>
              </a:spcBef>
              <a:spcAft>
                <a:spcPts val="0"/>
              </a:spcAft>
              <a:buClr>
                <a:schemeClr val="dk1"/>
              </a:buClr>
              <a:buSzPct val="38000"/>
              <a:buFont typeface="Arial" panose="020B0704020202020204"/>
              <a:buNone/>
            </a:pPr>
            <a:r>
              <a:rPr lang="en-GB" sz="2900">
                <a:solidFill>
                  <a:schemeClr val="dk1"/>
                </a:solidFill>
              </a:rPr>
              <a:t>HuBERT works by first clustering the input audio into discrete units and then using these clusters as a form of supervision to train a model, similar to how BERT learns by predicting masked tokens in text. The model is trained in two stages: first, it learns to predict these hidden speech units, and in the second stage, it fine-tunes on a speech task such as speech recognition.</a:t>
            </a:r>
            <a:endParaRPr sz="2900">
              <a:solidFill>
                <a:schemeClr val="dk1"/>
              </a:solidFill>
            </a:endParaRPr>
          </a:p>
          <a:p>
            <a:pPr marL="0" lvl="0" indent="0" algn="l" rtl="0">
              <a:spcBef>
                <a:spcPts val="1200"/>
              </a:spcBef>
              <a:spcAft>
                <a:spcPts val="0"/>
              </a:spcAft>
              <a:buClr>
                <a:schemeClr val="dk1"/>
              </a:buClr>
              <a:buSzPct val="61000"/>
              <a:buFont typeface="Arial" panose="020B0704020202020204"/>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406" name="Google Shape;406;p38"/>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07" name="Google Shape;40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26</a:t>
            </a:r>
            <a:endParaRPr lang="en-GB">
              <a:solidFill>
                <a:schemeClr val="lt1"/>
              </a:solidFill>
            </a:endParaRPr>
          </a:p>
        </p:txBody>
      </p:sp>
      <p:pic>
        <p:nvPicPr>
          <p:cNvPr id="408" name="Google Shape;408;p38"/>
          <p:cNvPicPr preferRelativeResize="0"/>
          <p:nvPr/>
        </p:nvPicPr>
        <p:blipFill>
          <a:blip r:embed="rId1"/>
          <a:stretch>
            <a:fillRect/>
          </a:stretch>
        </p:blipFill>
        <p:spPr>
          <a:xfrm>
            <a:off x="4716750" y="1137088"/>
            <a:ext cx="3755700" cy="3527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9"/>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14" name="Google Shape;414;p39"/>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a:t>
            </a:r>
            <a:endParaRPr sz="3000" b="1">
              <a:solidFill>
                <a:schemeClr val="lt1"/>
              </a:solidFill>
            </a:endParaRPr>
          </a:p>
        </p:txBody>
      </p:sp>
      <p:sp>
        <p:nvSpPr>
          <p:cNvPr id="415" name="Google Shape;415;p39"/>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HuBERT</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416" name="Google Shape;416;p39"/>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17" name="Google Shape;417;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27</a:t>
            </a:r>
            <a:endParaRPr lang="en-GB">
              <a:solidFill>
                <a:schemeClr val="lt1"/>
              </a:solidFill>
            </a:endParaRPr>
          </a:p>
        </p:txBody>
      </p:sp>
      <p:pic>
        <p:nvPicPr>
          <p:cNvPr id="418" name="Google Shape;418;p39"/>
          <p:cNvPicPr preferRelativeResize="0"/>
          <p:nvPr/>
        </p:nvPicPr>
        <p:blipFill>
          <a:blip r:embed="rId1"/>
          <a:stretch>
            <a:fillRect/>
          </a:stretch>
        </p:blipFill>
        <p:spPr>
          <a:xfrm>
            <a:off x="1116025" y="1165563"/>
            <a:ext cx="4269474" cy="3470274"/>
          </a:xfrm>
          <a:prstGeom prst="rect">
            <a:avLst/>
          </a:prstGeom>
          <a:noFill/>
          <a:ln>
            <a:noFill/>
          </a:ln>
        </p:spPr>
      </p:pic>
      <p:pic>
        <p:nvPicPr>
          <p:cNvPr id="419" name="Google Shape;419;p39"/>
          <p:cNvPicPr preferRelativeResize="0"/>
          <p:nvPr/>
        </p:nvPicPr>
        <p:blipFill>
          <a:blip r:embed="rId2"/>
          <a:stretch>
            <a:fillRect/>
          </a:stretch>
        </p:blipFill>
        <p:spPr>
          <a:xfrm>
            <a:off x="5385499" y="1313170"/>
            <a:ext cx="3484825" cy="29554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0"/>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25" name="Google Shape;425;p40"/>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a:t>
            </a:r>
            <a:endParaRPr sz="3000" b="1">
              <a:solidFill>
                <a:schemeClr val="lt1"/>
              </a:solidFill>
            </a:endParaRPr>
          </a:p>
        </p:txBody>
      </p:sp>
      <p:sp>
        <p:nvSpPr>
          <p:cNvPr id="426" name="Google Shape;426;p40"/>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27" name="Google Shape;427;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28</a:t>
            </a:r>
            <a:endParaRPr lang="en-GB">
              <a:solidFill>
                <a:schemeClr val="lt1"/>
              </a:solidFill>
            </a:endParaRPr>
          </a:p>
        </p:txBody>
      </p:sp>
      <p:pic>
        <p:nvPicPr>
          <p:cNvPr id="428" name="Google Shape;428;p40"/>
          <p:cNvPicPr preferRelativeResize="0"/>
          <p:nvPr/>
        </p:nvPicPr>
        <p:blipFill>
          <a:blip r:embed="rId1"/>
          <a:stretch>
            <a:fillRect/>
          </a:stretch>
        </p:blipFill>
        <p:spPr>
          <a:xfrm>
            <a:off x="5206978" y="1553350"/>
            <a:ext cx="3711871" cy="2632738"/>
          </a:xfrm>
          <a:prstGeom prst="rect">
            <a:avLst/>
          </a:prstGeom>
          <a:noFill/>
          <a:ln>
            <a:noFill/>
          </a:ln>
        </p:spPr>
      </p:pic>
      <p:sp>
        <p:nvSpPr>
          <p:cNvPr id="429" name="Google Shape;429;p40"/>
          <p:cNvSpPr txBox="1"/>
          <p:nvPr/>
        </p:nvSpPr>
        <p:spPr>
          <a:xfrm>
            <a:off x="1216" y="1067056"/>
            <a:ext cx="5102100" cy="336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704020202020204"/>
              <a:buNone/>
            </a:pPr>
            <a:r>
              <a:rPr lang="en-GB" sz="1800" i="1">
                <a:solidFill>
                  <a:schemeClr val="dk1"/>
                </a:solidFill>
              </a:rPr>
              <a:t>Bidirectional Encoder Representations from Transformers (BERT)</a:t>
            </a:r>
            <a:endParaRPr sz="1800" i="1">
              <a:solidFill>
                <a:schemeClr val="dk1"/>
              </a:solidFill>
            </a:endParaRPr>
          </a:p>
          <a:p>
            <a:pPr marL="0" lvl="0" indent="0" algn="l" rtl="0">
              <a:spcBef>
                <a:spcPts val="0"/>
              </a:spcBef>
              <a:spcAft>
                <a:spcPts val="0"/>
              </a:spcAft>
              <a:buClr>
                <a:schemeClr val="dk1"/>
              </a:buClr>
              <a:buSzPts val="1100"/>
              <a:buFont typeface="Arial" panose="020B0704020202020204"/>
              <a:buNone/>
            </a:pPr>
            <a:endParaRPr sz="1800" i="1">
              <a:solidFill>
                <a:schemeClr val="dk1"/>
              </a:solidFill>
            </a:endParaRPr>
          </a:p>
          <a:p>
            <a:pPr marL="0" lvl="0" indent="0" algn="l" rtl="0">
              <a:spcBef>
                <a:spcPts val="0"/>
              </a:spcBef>
              <a:spcAft>
                <a:spcPts val="0"/>
              </a:spcAft>
              <a:buNone/>
            </a:pPr>
            <a:r>
              <a:rPr lang="en-GB">
                <a:solidFill>
                  <a:schemeClr val="dk1"/>
                </a:solidFill>
              </a:rPr>
              <a:t>BERT is a powerful model for NLP developed by Google. It is designed to understand language by looking at both the words before and after a specific word in a sentence, unlike older models that only read text in one direction. This approach allows BERT to capture the meaning of words more accurately in different contexts.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BERT uses a self-attention mechanism to focus on relationships between words in a sentence. It is pre-trained on large text datasets using two tasks: masked language modeling (MLM) and next sentence prediction (NSP). </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1"/>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35" name="Google Shape;435;p41"/>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a:t>
            </a:r>
            <a:endParaRPr sz="3000" b="1">
              <a:solidFill>
                <a:schemeClr val="lt1"/>
              </a:solidFill>
            </a:endParaRPr>
          </a:p>
        </p:txBody>
      </p:sp>
      <p:sp>
        <p:nvSpPr>
          <p:cNvPr id="436" name="Google Shape;436;p41"/>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BERT</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437" name="Google Shape;437;p41"/>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38" name="Google Shape;43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29</a:t>
            </a:r>
            <a:endParaRPr lang="en-GB">
              <a:solidFill>
                <a:schemeClr val="lt1"/>
              </a:solidFill>
            </a:endParaRPr>
          </a:p>
        </p:txBody>
      </p:sp>
      <p:pic>
        <p:nvPicPr>
          <p:cNvPr id="439" name="Google Shape;439;p41"/>
          <p:cNvPicPr preferRelativeResize="0"/>
          <p:nvPr/>
        </p:nvPicPr>
        <p:blipFill>
          <a:blip r:embed="rId1"/>
          <a:stretch>
            <a:fillRect/>
          </a:stretch>
        </p:blipFill>
        <p:spPr>
          <a:xfrm>
            <a:off x="4952250" y="1680175"/>
            <a:ext cx="3960899" cy="1917625"/>
          </a:xfrm>
          <a:prstGeom prst="rect">
            <a:avLst/>
          </a:prstGeom>
          <a:noFill/>
          <a:ln>
            <a:noFill/>
          </a:ln>
        </p:spPr>
      </p:pic>
      <p:pic>
        <p:nvPicPr>
          <p:cNvPr id="440" name="Google Shape;440;p41"/>
          <p:cNvPicPr preferRelativeResize="0"/>
          <p:nvPr/>
        </p:nvPicPr>
        <p:blipFill>
          <a:blip r:embed="rId2"/>
          <a:stretch>
            <a:fillRect/>
          </a:stretch>
        </p:blipFill>
        <p:spPr>
          <a:xfrm>
            <a:off x="288950" y="1680175"/>
            <a:ext cx="4410125" cy="2588549"/>
          </a:xfrm>
          <a:prstGeom prst="rect">
            <a:avLst/>
          </a:prstGeom>
          <a:noFill/>
          <a:ln>
            <a:noFill/>
          </a:ln>
        </p:spPr>
      </p:pic>
      <p:sp>
        <p:nvSpPr>
          <p:cNvPr id="441" name="Google Shape;441;p41"/>
          <p:cNvSpPr txBox="1"/>
          <p:nvPr/>
        </p:nvSpPr>
        <p:spPr>
          <a:xfrm>
            <a:off x="5124975" y="3762625"/>
            <a:ext cx="3577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Test Set Accuracy: 52.4%</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2"/>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47" name="Google Shape;447;p42"/>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(Multimodal)</a:t>
            </a:r>
            <a:endParaRPr sz="3000" b="1">
              <a:solidFill>
                <a:schemeClr val="lt1"/>
              </a:solidFill>
            </a:endParaRPr>
          </a:p>
        </p:txBody>
      </p:sp>
      <p:sp>
        <p:nvSpPr>
          <p:cNvPr id="448" name="Google Shape;448;p42"/>
          <p:cNvSpPr txBox="1">
            <a:spLocks noGrp="1"/>
          </p:cNvSpPr>
          <p:nvPr>
            <p:ph type="body" idx="1"/>
          </p:nvPr>
        </p:nvSpPr>
        <p:spPr>
          <a:xfrm>
            <a:off x="-2275" y="1059725"/>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HuBERT + BERT (Concatenated)</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449" name="Google Shape;449;p42"/>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50" name="Google Shape;450;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30</a:t>
            </a:r>
            <a:endParaRPr lang="en-GB">
              <a:solidFill>
                <a:schemeClr val="lt1"/>
              </a:solidFill>
            </a:endParaRPr>
          </a:p>
        </p:txBody>
      </p:sp>
      <p:pic>
        <p:nvPicPr>
          <p:cNvPr id="451" name="Google Shape;451;p42"/>
          <p:cNvPicPr preferRelativeResize="0"/>
          <p:nvPr/>
        </p:nvPicPr>
        <p:blipFill>
          <a:blip r:embed="rId1"/>
          <a:stretch>
            <a:fillRect/>
          </a:stretch>
        </p:blipFill>
        <p:spPr>
          <a:xfrm>
            <a:off x="104875" y="2659649"/>
            <a:ext cx="922825" cy="461412"/>
          </a:xfrm>
          <a:prstGeom prst="rect">
            <a:avLst/>
          </a:prstGeom>
          <a:noFill/>
          <a:ln>
            <a:noFill/>
          </a:ln>
        </p:spPr>
      </p:pic>
      <p:cxnSp>
        <p:nvCxnSpPr>
          <p:cNvPr id="452" name="Google Shape;452;p42"/>
          <p:cNvCxnSpPr>
            <a:stCxn id="451" idx="3"/>
          </p:cNvCxnSpPr>
          <p:nvPr/>
        </p:nvCxnSpPr>
        <p:spPr>
          <a:xfrm rot="10800000" flipH="1">
            <a:off x="1027700" y="2886155"/>
            <a:ext cx="528300" cy="4200"/>
          </a:xfrm>
          <a:prstGeom prst="straightConnector1">
            <a:avLst/>
          </a:prstGeom>
          <a:noFill/>
          <a:ln w="9525" cap="flat" cmpd="sng">
            <a:solidFill>
              <a:schemeClr val="dk2"/>
            </a:solidFill>
            <a:prstDash val="solid"/>
            <a:round/>
            <a:headEnd type="none" w="med" len="med"/>
            <a:tailEnd type="none" w="med" len="med"/>
          </a:ln>
        </p:spPr>
      </p:cxnSp>
      <p:cxnSp>
        <p:nvCxnSpPr>
          <p:cNvPr id="453" name="Google Shape;453;p42"/>
          <p:cNvCxnSpPr/>
          <p:nvPr/>
        </p:nvCxnSpPr>
        <p:spPr>
          <a:xfrm rot="10800000">
            <a:off x="1555850" y="2343500"/>
            <a:ext cx="0" cy="551100"/>
          </a:xfrm>
          <a:prstGeom prst="straightConnector1">
            <a:avLst/>
          </a:prstGeom>
          <a:noFill/>
          <a:ln w="9525" cap="flat" cmpd="sng">
            <a:solidFill>
              <a:schemeClr val="dk2"/>
            </a:solidFill>
            <a:prstDash val="solid"/>
            <a:round/>
            <a:headEnd type="none" w="med" len="med"/>
            <a:tailEnd type="none" w="med" len="med"/>
          </a:ln>
        </p:spPr>
      </p:cxnSp>
      <p:cxnSp>
        <p:nvCxnSpPr>
          <p:cNvPr id="454" name="Google Shape;454;p42"/>
          <p:cNvCxnSpPr/>
          <p:nvPr/>
        </p:nvCxnSpPr>
        <p:spPr>
          <a:xfrm rot="10800000">
            <a:off x="1555850" y="2886150"/>
            <a:ext cx="0" cy="551100"/>
          </a:xfrm>
          <a:prstGeom prst="straightConnector1">
            <a:avLst/>
          </a:prstGeom>
          <a:noFill/>
          <a:ln w="9525" cap="flat" cmpd="sng">
            <a:solidFill>
              <a:schemeClr val="dk2"/>
            </a:solidFill>
            <a:prstDash val="solid"/>
            <a:round/>
            <a:headEnd type="none" w="med" len="med"/>
            <a:tailEnd type="none" w="med" len="med"/>
          </a:ln>
        </p:spPr>
      </p:cxnSp>
      <p:cxnSp>
        <p:nvCxnSpPr>
          <p:cNvPr id="455" name="Google Shape;455;p42"/>
          <p:cNvCxnSpPr/>
          <p:nvPr/>
        </p:nvCxnSpPr>
        <p:spPr>
          <a:xfrm>
            <a:off x="1564200" y="2351875"/>
            <a:ext cx="592800" cy="0"/>
          </a:xfrm>
          <a:prstGeom prst="straightConnector1">
            <a:avLst/>
          </a:prstGeom>
          <a:noFill/>
          <a:ln w="9525" cap="flat" cmpd="sng">
            <a:solidFill>
              <a:schemeClr val="dk2"/>
            </a:solidFill>
            <a:prstDash val="solid"/>
            <a:round/>
            <a:headEnd type="none" w="med" len="med"/>
            <a:tailEnd type="triangle" w="med" len="med"/>
          </a:ln>
        </p:spPr>
      </p:cxnSp>
      <p:cxnSp>
        <p:nvCxnSpPr>
          <p:cNvPr id="456" name="Google Shape;456;p42"/>
          <p:cNvCxnSpPr/>
          <p:nvPr/>
        </p:nvCxnSpPr>
        <p:spPr>
          <a:xfrm>
            <a:off x="1564200" y="3437250"/>
            <a:ext cx="592800" cy="0"/>
          </a:xfrm>
          <a:prstGeom prst="straightConnector1">
            <a:avLst/>
          </a:prstGeom>
          <a:noFill/>
          <a:ln w="9525" cap="flat" cmpd="sng">
            <a:solidFill>
              <a:schemeClr val="dk2"/>
            </a:solidFill>
            <a:prstDash val="solid"/>
            <a:round/>
            <a:headEnd type="none" w="med" len="med"/>
            <a:tailEnd type="triangle" w="med" len="med"/>
          </a:ln>
        </p:spPr>
      </p:cxnSp>
      <p:sp>
        <p:nvSpPr>
          <p:cNvPr id="457" name="Google Shape;457;p42"/>
          <p:cNvSpPr/>
          <p:nvPr/>
        </p:nvSpPr>
        <p:spPr>
          <a:xfrm>
            <a:off x="2215500" y="3206550"/>
            <a:ext cx="1358400" cy="461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Whisper</a:t>
            </a:r>
            <a:endParaRPr lang="en-GB"/>
          </a:p>
        </p:txBody>
      </p:sp>
      <p:sp>
        <p:nvSpPr>
          <p:cNvPr id="458" name="Google Shape;458;p42"/>
          <p:cNvSpPr/>
          <p:nvPr/>
        </p:nvSpPr>
        <p:spPr>
          <a:xfrm>
            <a:off x="2215500" y="2121175"/>
            <a:ext cx="922800" cy="461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HuBERT</a:t>
            </a:r>
            <a:endParaRPr lang="en-GB"/>
          </a:p>
        </p:txBody>
      </p:sp>
      <p:cxnSp>
        <p:nvCxnSpPr>
          <p:cNvPr id="459" name="Google Shape;459;p42"/>
          <p:cNvCxnSpPr/>
          <p:nvPr/>
        </p:nvCxnSpPr>
        <p:spPr>
          <a:xfrm>
            <a:off x="3632400" y="3437250"/>
            <a:ext cx="592800" cy="0"/>
          </a:xfrm>
          <a:prstGeom prst="straightConnector1">
            <a:avLst/>
          </a:prstGeom>
          <a:noFill/>
          <a:ln w="9525" cap="flat" cmpd="sng">
            <a:solidFill>
              <a:schemeClr val="dk2"/>
            </a:solidFill>
            <a:prstDash val="solid"/>
            <a:round/>
            <a:headEnd type="none" w="med" len="med"/>
            <a:tailEnd type="triangle" w="med" len="med"/>
          </a:ln>
        </p:spPr>
      </p:cxnSp>
      <p:sp>
        <p:nvSpPr>
          <p:cNvPr id="460" name="Google Shape;460;p42"/>
          <p:cNvSpPr/>
          <p:nvPr/>
        </p:nvSpPr>
        <p:spPr>
          <a:xfrm>
            <a:off x="4283700" y="3206550"/>
            <a:ext cx="922800" cy="461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BERT</a:t>
            </a:r>
            <a:endParaRPr lang="en-GB"/>
          </a:p>
        </p:txBody>
      </p:sp>
      <p:sp>
        <p:nvSpPr>
          <p:cNvPr id="461" name="Google Shape;461;p42"/>
          <p:cNvSpPr txBox="1"/>
          <p:nvPr/>
        </p:nvSpPr>
        <p:spPr>
          <a:xfrm>
            <a:off x="291925" y="2447850"/>
            <a:ext cx="548700" cy="12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dk1"/>
                </a:solidFill>
                <a:latin typeface="Times New Roman" panose="02020603050405020304"/>
                <a:ea typeface="Times New Roman" panose="02020603050405020304"/>
                <a:cs typeface="Times New Roman" panose="02020603050405020304"/>
                <a:sym typeface="Times New Roman" panose="02020603050405020304"/>
              </a:rPr>
              <a:t>Audio</a:t>
            </a:r>
            <a:endParaRPr sz="1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2" name="Google Shape;462;p42"/>
          <p:cNvSpPr txBox="1"/>
          <p:nvPr/>
        </p:nvSpPr>
        <p:spPr>
          <a:xfrm>
            <a:off x="3727050" y="3121050"/>
            <a:ext cx="403500" cy="12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Times New Roman" panose="02020603050405020304"/>
                <a:ea typeface="Times New Roman" panose="02020603050405020304"/>
                <a:cs typeface="Times New Roman" panose="02020603050405020304"/>
                <a:sym typeface="Times New Roman" panose="02020603050405020304"/>
              </a:rPr>
              <a:t>Text</a:t>
            </a:r>
            <a:endParaRPr sz="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3" name="Google Shape;463;p42"/>
          <p:cNvSpPr txBox="1"/>
          <p:nvPr/>
        </p:nvSpPr>
        <p:spPr>
          <a:xfrm>
            <a:off x="176975" y="3829975"/>
            <a:ext cx="8785500" cy="6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Specifically, we used “hubert-large-ls960-ft” for HuBERT, “:turbo” for Whisper, and “bert-base-uncased” for BERT.</a:t>
            </a:r>
            <a:endParaRPr>
              <a:solidFill>
                <a:schemeClr val="dk1"/>
              </a:solidFill>
            </a:endParaRPr>
          </a:p>
        </p:txBody>
      </p:sp>
      <p:cxnSp>
        <p:nvCxnSpPr>
          <p:cNvPr id="464" name="Google Shape;464;p42"/>
          <p:cNvCxnSpPr>
            <a:stCxn id="458" idx="3"/>
          </p:cNvCxnSpPr>
          <p:nvPr/>
        </p:nvCxnSpPr>
        <p:spPr>
          <a:xfrm rot="10800000" flipH="1">
            <a:off x="3138300" y="2334775"/>
            <a:ext cx="2267400" cy="17100"/>
          </a:xfrm>
          <a:prstGeom prst="straightConnector1">
            <a:avLst/>
          </a:prstGeom>
          <a:noFill/>
          <a:ln w="9525" cap="flat" cmpd="sng">
            <a:solidFill>
              <a:schemeClr val="dk2"/>
            </a:solidFill>
            <a:prstDash val="solid"/>
            <a:round/>
            <a:headEnd type="none" w="med" len="med"/>
            <a:tailEnd type="none" w="med" len="med"/>
          </a:ln>
        </p:spPr>
      </p:cxnSp>
      <p:cxnSp>
        <p:nvCxnSpPr>
          <p:cNvPr id="465" name="Google Shape;465;p42"/>
          <p:cNvCxnSpPr/>
          <p:nvPr/>
        </p:nvCxnSpPr>
        <p:spPr>
          <a:xfrm rot="10800000">
            <a:off x="5401500" y="2339100"/>
            <a:ext cx="8400" cy="341400"/>
          </a:xfrm>
          <a:prstGeom prst="straightConnector1">
            <a:avLst/>
          </a:prstGeom>
          <a:noFill/>
          <a:ln w="9525" cap="flat" cmpd="sng">
            <a:solidFill>
              <a:schemeClr val="dk2"/>
            </a:solidFill>
            <a:prstDash val="solid"/>
            <a:round/>
            <a:headEnd type="none" w="med" len="med"/>
            <a:tailEnd type="none" w="med" len="med"/>
          </a:ln>
        </p:spPr>
      </p:cxnSp>
      <p:cxnSp>
        <p:nvCxnSpPr>
          <p:cNvPr id="466" name="Google Shape;466;p42"/>
          <p:cNvCxnSpPr>
            <a:stCxn id="460" idx="3"/>
          </p:cNvCxnSpPr>
          <p:nvPr/>
        </p:nvCxnSpPr>
        <p:spPr>
          <a:xfrm>
            <a:off x="5206500" y="3437250"/>
            <a:ext cx="207300" cy="600"/>
          </a:xfrm>
          <a:prstGeom prst="straightConnector1">
            <a:avLst/>
          </a:prstGeom>
          <a:noFill/>
          <a:ln w="9525" cap="flat" cmpd="sng">
            <a:solidFill>
              <a:schemeClr val="dk2"/>
            </a:solidFill>
            <a:prstDash val="solid"/>
            <a:round/>
            <a:headEnd type="none" w="med" len="med"/>
            <a:tailEnd type="none" w="med" len="med"/>
          </a:ln>
        </p:spPr>
      </p:cxnSp>
      <p:cxnSp>
        <p:nvCxnSpPr>
          <p:cNvPr id="467" name="Google Shape;467;p42"/>
          <p:cNvCxnSpPr/>
          <p:nvPr/>
        </p:nvCxnSpPr>
        <p:spPr>
          <a:xfrm rot="10800000">
            <a:off x="5401500" y="3095850"/>
            <a:ext cx="8400" cy="341400"/>
          </a:xfrm>
          <a:prstGeom prst="straightConnector1">
            <a:avLst/>
          </a:prstGeom>
          <a:noFill/>
          <a:ln w="9525" cap="flat" cmpd="sng">
            <a:solidFill>
              <a:schemeClr val="dk2"/>
            </a:solidFill>
            <a:prstDash val="solid"/>
            <a:round/>
            <a:headEnd type="none" w="med" len="med"/>
            <a:tailEnd type="none" w="med" len="med"/>
          </a:ln>
        </p:spPr>
      </p:cxnSp>
      <p:cxnSp>
        <p:nvCxnSpPr>
          <p:cNvPr id="468" name="Google Shape;468;p42"/>
          <p:cNvCxnSpPr/>
          <p:nvPr/>
        </p:nvCxnSpPr>
        <p:spPr>
          <a:xfrm>
            <a:off x="5405700" y="3101100"/>
            <a:ext cx="312000" cy="0"/>
          </a:xfrm>
          <a:prstGeom prst="straightConnector1">
            <a:avLst/>
          </a:prstGeom>
          <a:noFill/>
          <a:ln w="9525" cap="flat" cmpd="sng">
            <a:solidFill>
              <a:schemeClr val="dk2"/>
            </a:solidFill>
            <a:prstDash val="solid"/>
            <a:round/>
            <a:headEnd type="none" w="med" len="med"/>
            <a:tailEnd type="triangle" w="med" len="med"/>
          </a:ln>
        </p:spPr>
      </p:cxnSp>
      <p:cxnSp>
        <p:nvCxnSpPr>
          <p:cNvPr id="469" name="Google Shape;469;p42"/>
          <p:cNvCxnSpPr/>
          <p:nvPr/>
        </p:nvCxnSpPr>
        <p:spPr>
          <a:xfrm>
            <a:off x="5413800" y="2680500"/>
            <a:ext cx="312000" cy="0"/>
          </a:xfrm>
          <a:prstGeom prst="straightConnector1">
            <a:avLst/>
          </a:prstGeom>
          <a:noFill/>
          <a:ln w="9525" cap="flat" cmpd="sng">
            <a:solidFill>
              <a:schemeClr val="dk2"/>
            </a:solidFill>
            <a:prstDash val="solid"/>
            <a:round/>
            <a:headEnd type="none" w="med" len="med"/>
            <a:tailEnd type="triangle" w="med" len="med"/>
          </a:ln>
        </p:spPr>
      </p:cxnSp>
      <p:sp>
        <p:nvSpPr>
          <p:cNvPr id="470" name="Google Shape;470;p42"/>
          <p:cNvSpPr/>
          <p:nvPr/>
        </p:nvSpPr>
        <p:spPr>
          <a:xfrm>
            <a:off x="5729700" y="2606975"/>
            <a:ext cx="981600" cy="551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latin typeface="Times New Roman" panose="02020603050405020304"/>
                <a:ea typeface="Times New Roman" panose="02020603050405020304"/>
                <a:cs typeface="Times New Roman" panose="02020603050405020304"/>
                <a:sym typeface="Times New Roman" panose="02020603050405020304"/>
              </a:rPr>
              <a:t>Concatenate</a:t>
            </a:r>
            <a:endParaRPr sz="1000">
              <a:latin typeface="Times New Roman" panose="02020603050405020304"/>
              <a:ea typeface="Times New Roman" panose="02020603050405020304"/>
              <a:cs typeface="Times New Roman" panose="02020603050405020304"/>
              <a:sym typeface="Times New Roman" panose="02020603050405020304"/>
            </a:endParaRPr>
          </a:p>
        </p:txBody>
      </p:sp>
      <p:sp>
        <p:nvSpPr>
          <p:cNvPr id="471" name="Google Shape;471;p42"/>
          <p:cNvSpPr/>
          <p:nvPr/>
        </p:nvSpPr>
        <p:spPr>
          <a:xfrm>
            <a:off x="7195750" y="2058275"/>
            <a:ext cx="361200" cy="1649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cxnSp>
        <p:nvCxnSpPr>
          <p:cNvPr id="472" name="Google Shape;472;p42"/>
          <p:cNvCxnSpPr>
            <a:stCxn id="470" idx="3"/>
            <a:endCxn id="471" idx="1"/>
          </p:cNvCxnSpPr>
          <p:nvPr/>
        </p:nvCxnSpPr>
        <p:spPr>
          <a:xfrm rot="10800000" flipH="1">
            <a:off x="6711300" y="2299925"/>
            <a:ext cx="537300" cy="582600"/>
          </a:xfrm>
          <a:prstGeom prst="straightConnector1">
            <a:avLst/>
          </a:prstGeom>
          <a:noFill/>
          <a:ln w="9525" cap="flat" cmpd="sng">
            <a:solidFill>
              <a:schemeClr val="dk2"/>
            </a:solidFill>
            <a:prstDash val="solid"/>
            <a:round/>
            <a:headEnd type="none" w="med" len="med"/>
            <a:tailEnd type="none" w="med" len="med"/>
          </a:ln>
        </p:spPr>
      </p:cxnSp>
      <p:cxnSp>
        <p:nvCxnSpPr>
          <p:cNvPr id="473" name="Google Shape;473;p42"/>
          <p:cNvCxnSpPr>
            <a:stCxn id="470" idx="3"/>
          </p:cNvCxnSpPr>
          <p:nvPr/>
        </p:nvCxnSpPr>
        <p:spPr>
          <a:xfrm rot="10800000" flipH="1">
            <a:off x="6711300" y="2575625"/>
            <a:ext cx="501000" cy="306900"/>
          </a:xfrm>
          <a:prstGeom prst="straightConnector1">
            <a:avLst/>
          </a:prstGeom>
          <a:noFill/>
          <a:ln w="9525" cap="flat" cmpd="sng">
            <a:solidFill>
              <a:schemeClr val="dk2"/>
            </a:solidFill>
            <a:prstDash val="solid"/>
            <a:round/>
            <a:headEnd type="none" w="med" len="med"/>
            <a:tailEnd type="none" w="med" len="med"/>
          </a:ln>
        </p:spPr>
      </p:cxnSp>
      <p:sp>
        <p:nvSpPr>
          <p:cNvPr id="474" name="Google Shape;474;p42"/>
          <p:cNvSpPr txBox="1"/>
          <p:nvPr/>
        </p:nvSpPr>
        <p:spPr>
          <a:xfrm rot="5400000">
            <a:off x="7112550" y="2862563"/>
            <a:ext cx="312000" cy="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dk2"/>
                </a:solidFill>
              </a:rPr>
              <a:t>…</a:t>
            </a:r>
            <a:endParaRPr sz="1000">
              <a:solidFill>
                <a:schemeClr val="dk2"/>
              </a:solidFill>
            </a:endParaRPr>
          </a:p>
        </p:txBody>
      </p:sp>
      <p:cxnSp>
        <p:nvCxnSpPr>
          <p:cNvPr id="475" name="Google Shape;475;p42"/>
          <p:cNvCxnSpPr>
            <a:stCxn id="470" idx="3"/>
          </p:cNvCxnSpPr>
          <p:nvPr/>
        </p:nvCxnSpPr>
        <p:spPr>
          <a:xfrm>
            <a:off x="6711300" y="2882525"/>
            <a:ext cx="501000" cy="341700"/>
          </a:xfrm>
          <a:prstGeom prst="straightConnector1">
            <a:avLst/>
          </a:prstGeom>
          <a:noFill/>
          <a:ln w="9525" cap="flat" cmpd="sng">
            <a:solidFill>
              <a:schemeClr val="dk2"/>
            </a:solidFill>
            <a:prstDash val="solid"/>
            <a:round/>
            <a:headEnd type="none" w="med" len="med"/>
            <a:tailEnd type="none" w="med" len="med"/>
          </a:ln>
        </p:spPr>
      </p:cxnSp>
      <p:cxnSp>
        <p:nvCxnSpPr>
          <p:cNvPr id="476" name="Google Shape;476;p42"/>
          <p:cNvCxnSpPr>
            <a:stCxn id="470" idx="3"/>
            <a:endCxn id="471" idx="3"/>
          </p:cNvCxnSpPr>
          <p:nvPr/>
        </p:nvCxnSpPr>
        <p:spPr>
          <a:xfrm>
            <a:off x="6711300" y="2882525"/>
            <a:ext cx="537300" cy="583500"/>
          </a:xfrm>
          <a:prstGeom prst="straightConnector1">
            <a:avLst/>
          </a:prstGeom>
          <a:noFill/>
          <a:ln w="9525" cap="flat" cmpd="sng">
            <a:solidFill>
              <a:schemeClr val="dk2"/>
            </a:solidFill>
            <a:prstDash val="solid"/>
            <a:round/>
            <a:headEnd type="none" w="med" len="med"/>
            <a:tailEnd type="none" w="med" len="med"/>
          </a:ln>
        </p:spPr>
      </p:cxnSp>
      <p:sp>
        <p:nvSpPr>
          <p:cNvPr id="477" name="Google Shape;477;p42"/>
          <p:cNvSpPr txBox="1"/>
          <p:nvPr/>
        </p:nvSpPr>
        <p:spPr>
          <a:xfrm>
            <a:off x="7006900" y="1727200"/>
            <a:ext cx="7965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latin typeface="Times New Roman" panose="02020603050405020304"/>
                <a:ea typeface="Times New Roman" panose="02020603050405020304"/>
                <a:cs typeface="Times New Roman" panose="02020603050405020304"/>
                <a:sym typeface="Times New Roman" panose="02020603050405020304"/>
              </a:rPr>
              <a:t>Dim: 256</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8" name="Google Shape;478;p42"/>
          <p:cNvSpPr/>
          <p:nvPr/>
        </p:nvSpPr>
        <p:spPr>
          <a:xfrm>
            <a:off x="8472450" y="2370150"/>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79" name="Google Shape;479;p42"/>
          <p:cNvSpPr/>
          <p:nvPr/>
        </p:nvSpPr>
        <p:spPr>
          <a:xfrm>
            <a:off x="8472450" y="2759375"/>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80" name="Google Shape;480;p42"/>
          <p:cNvSpPr/>
          <p:nvPr/>
        </p:nvSpPr>
        <p:spPr>
          <a:xfrm>
            <a:off x="8472450" y="1980925"/>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81" name="Google Shape;481;p42"/>
          <p:cNvSpPr/>
          <p:nvPr/>
        </p:nvSpPr>
        <p:spPr>
          <a:xfrm>
            <a:off x="8463300" y="3148600"/>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482" name="Google Shape;482;p42"/>
          <p:cNvSpPr/>
          <p:nvPr/>
        </p:nvSpPr>
        <p:spPr>
          <a:xfrm>
            <a:off x="8472450" y="3516688"/>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cxnSp>
        <p:nvCxnSpPr>
          <p:cNvPr id="483" name="Google Shape;483;p42"/>
          <p:cNvCxnSpPr>
            <a:stCxn id="471" idx="7"/>
            <a:endCxn id="480" idx="1"/>
          </p:cNvCxnSpPr>
          <p:nvPr/>
        </p:nvCxnSpPr>
        <p:spPr>
          <a:xfrm rot="10800000" flipH="1">
            <a:off x="7504053" y="2120724"/>
            <a:ext cx="968400" cy="179100"/>
          </a:xfrm>
          <a:prstGeom prst="straightConnector1">
            <a:avLst/>
          </a:prstGeom>
          <a:noFill/>
          <a:ln w="9525" cap="flat" cmpd="sng">
            <a:solidFill>
              <a:schemeClr val="dk2"/>
            </a:solidFill>
            <a:prstDash val="solid"/>
            <a:round/>
            <a:headEnd type="none" w="med" len="med"/>
            <a:tailEnd type="none" w="med" len="med"/>
          </a:ln>
        </p:spPr>
      </p:cxnSp>
      <p:cxnSp>
        <p:nvCxnSpPr>
          <p:cNvPr id="484" name="Google Shape;484;p42"/>
          <p:cNvCxnSpPr>
            <a:stCxn id="471" idx="7"/>
            <a:endCxn id="478" idx="1"/>
          </p:cNvCxnSpPr>
          <p:nvPr/>
        </p:nvCxnSpPr>
        <p:spPr>
          <a:xfrm>
            <a:off x="7504053" y="2299824"/>
            <a:ext cx="968400" cy="210000"/>
          </a:xfrm>
          <a:prstGeom prst="straightConnector1">
            <a:avLst/>
          </a:prstGeom>
          <a:noFill/>
          <a:ln w="9525" cap="flat" cmpd="sng">
            <a:solidFill>
              <a:schemeClr val="dk2"/>
            </a:solidFill>
            <a:prstDash val="solid"/>
            <a:round/>
            <a:headEnd type="none" w="med" len="med"/>
            <a:tailEnd type="none" w="med" len="med"/>
          </a:ln>
        </p:spPr>
      </p:cxnSp>
      <p:cxnSp>
        <p:nvCxnSpPr>
          <p:cNvPr id="485" name="Google Shape;485;p42"/>
          <p:cNvCxnSpPr>
            <a:stCxn id="471" idx="7"/>
            <a:endCxn id="479" idx="1"/>
          </p:cNvCxnSpPr>
          <p:nvPr/>
        </p:nvCxnSpPr>
        <p:spPr>
          <a:xfrm>
            <a:off x="7504053" y="2299824"/>
            <a:ext cx="968400" cy="599100"/>
          </a:xfrm>
          <a:prstGeom prst="straightConnector1">
            <a:avLst/>
          </a:prstGeom>
          <a:noFill/>
          <a:ln w="9525" cap="flat" cmpd="sng">
            <a:solidFill>
              <a:schemeClr val="dk2"/>
            </a:solidFill>
            <a:prstDash val="solid"/>
            <a:round/>
            <a:headEnd type="none" w="med" len="med"/>
            <a:tailEnd type="none" w="med" len="med"/>
          </a:ln>
        </p:spPr>
      </p:cxnSp>
      <p:cxnSp>
        <p:nvCxnSpPr>
          <p:cNvPr id="486" name="Google Shape;486;p42"/>
          <p:cNvCxnSpPr>
            <a:stCxn id="471" idx="7"/>
            <a:endCxn id="481" idx="1"/>
          </p:cNvCxnSpPr>
          <p:nvPr/>
        </p:nvCxnSpPr>
        <p:spPr>
          <a:xfrm>
            <a:off x="7504053" y="2299824"/>
            <a:ext cx="959100" cy="988500"/>
          </a:xfrm>
          <a:prstGeom prst="straightConnector1">
            <a:avLst/>
          </a:prstGeom>
          <a:noFill/>
          <a:ln w="9525" cap="flat" cmpd="sng">
            <a:solidFill>
              <a:schemeClr val="dk2"/>
            </a:solidFill>
            <a:prstDash val="solid"/>
            <a:round/>
            <a:headEnd type="none" w="med" len="med"/>
            <a:tailEnd type="none" w="med" len="med"/>
          </a:ln>
        </p:spPr>
      </p:cxnSp>
      <p:cxnSp>
        <p:nvCxnSpPr>
          <p:cNvPr id="487" name="Google Shape;487;p42"/>
          <p:cNvCxnSpPr>
            <a:stCxn id="471" idx="7"/>
            <a:endCxn id="482" idx="1"/>
          </p:cNvCxnSpPr>
          <p:nvPr/>
        </p:nvCxnSpPr>
        <p:spPr>
          <a:xfrm>
            <a:off x="7504053" y="2299824"/>
            <a:ext cx="968400" cy="1356600"/>
          </a:xfrm>
          <a:prstGeom prst="straightConnector1">
            <a:avLst/>
          </a:prstGeom>
          <a:noFill/>
          <a:ln w="9525" cap="flat" cmpd="sng">
            <a:solidFill>
              <a:schemeClr val="dk2"/>
            </a:solidFill>
            <a:prstDash val="solid"/>
            <a:round/>
            <a:headEnd type="none" w="med" len="med"/>
            <a:tailEnd type="none" w="med" len="med"/>
          </a:ln>
        </p:spPr>
      </p:cxnSp>
      <p:sp>
        <p:nvSpPr>
          <p:cNvPr id="488" name="Google Shape;488;p42"/>
          <p:cNvSpPr txBox="1"/>
          <p:nvPr/>
        </p:nvSpPr>
        <p:spPr>
          <a:xfrm rot="5400000">
            <a:off x="7724475" y="2862563"/>
            <a:ext cx="312000" cy="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dk2"/>
                </a:solidFill>
              </a:rPr>
              <a:t>…</a:t>
            </a:r>
            <a:endParaRPr sz="1000">
              <a:solidFill>
                <a:schemeClr val="dk2"/>
              </a:solidFill>
            </a:endParaRPr>
          </a:p>
        </p:txBody>
      </p:sp>
      <p:cxnSp>
        <p:nvCxnSpPr>
          <p:cNvPr id="489" name="Google Shape;489;p42"/>
          <p:cNvCxnSpPr>
            <a:stCxn id="471" idx="5"/>
            <a:endCxn id="482" idx="1"/>
          </p:cNvCxnSpPr>
          <p:nvPr/>
        </p:nvCxnSpPr>
        <p:spPr>
          <a:xfrm>
            <a:off x="7504053" y="3466126"/>
            <a:ext cx="968400" cy="190200"/>
          </a:xfrm>
          <a:prstGeom prst="straightConnector1">
            <a:avLst/>
          </a:prstGeom>
          <a:noFill/>
          <a:ln w="9525" cap="flat" cmpd="sng">
            <a:solidFill>
              <a:schemeClr val="dk2"/>
            </a:solidFill>
            <a:prstDash val="solid"/>
            <a:round/>
            <a:headEnd type="none" w="med" len="med"/>
            <a:tailEnd type="none" w="med" len="med"/>
          </a:ln>
        </p:spPr>
      </p:cxnSp>
      <p:cxnSp>
        <p:nvCxnSpPr>
          <p:cNvPr id="490" name="Google Shape;490;p42"/>
          <p:cNvCxnSpPr>
            <a:stCxn id="471" idx="5"/>
            <a:endCxn id="481" idx="1"/>
          </p:cNvCxnSpPr>
          <p:nvPr/>
        </p:nvCxnSpPr>
        <p:spPr>
          <a:xfrm rot="10800000" flipH="1">
            <a:off x="7504053" y="3288226"/>
            <a:ext cx="959100" cy="177900"/>
          </a:xfrm>
          <a:prstGeom prst="straightConnector1">
            <a:avLst/>
          </a:prstGeom>
          <a:noFill/>
          <a:ln w="9525" cap="flat" cmpd="sng">
            <a:solidFill>
              <a:schemeClr val="dk2"/>
            </a:solidFill>
            <a:prstDash val="solid"/>
            <a:round/>
            <a:headEnd type="none" w="med" len="med"/>
            <a:tailEnd type="none" w="med" len="med"/>
          </a:ln>
        </p:spPr>
      </p:cxnSp>
      <p:cxnSp>
        <p:nvCxnSpPr>
          <p:cNvPr id="491" name="Google Shape;491;p42"/>
          <p:cNvCxnSpPr>
            <a:stCxn id="471" idx="5"/>
            <a:endCxn id="479" idx="1"/>
          </p:cNvCxnSpPr>
          <p:nvPr/>
        </p:nvCxnSpPr>
        <p:spPr>
          <a:xfrm rot="10800000" flipH="1">
            <a:off x="7504053" y="2899126"/>
            <a:ext cx="968400" cy="567000"/>
          </a:xfrm>
          <a:prstGeom prst="straightConnector1">
            <a:avLst/>
          </a:prstGeom>
          <a:noFill/>
          <a:ln w="9525" cap="flat" cmpd="sng">
            <a:solidFill>
              <a:schemeClr val="dk2"/>
            </a:solidFill>
            <a:prstDash val="solid"/>
            <a:round/>
            <a:headEnd type="none" w="med" len="med"/>
            <a:tailEnd type="none" w="med" len="med"/>
          </a:ln>
        </p:spPr>
      </p:cxnSp>
      <p:cxnSp>
        <p:nvCxnSpPr>
          <p:cNvPr id="492" name="Google Shape;492;p42"/>
          <p:cNvCxnSpPr>
            <a:stCxn id="471" idx="5"/>
            <a:endCxn id="478" idx="1"/>
          </p:cNvCxnSpPr>
          <p:nvPr/>
        </p:nvCxnSpPr>
        <p:spPr>
          <a:xfrm rot="10800000" flipH="1">
            <a:off x="7504053" y="2509726"/>
            <a:ext cx="968400" cy="956400"/>
          </a:xfrm>
          <a:prstGeom prst="straightConnector1">
            <a:avLst/>
          </a:prstGeom>
          <a:noFill/>
          <a:ln w="9525" cap="flat" cmpd="sng">
            <a:solidFill>
              <a:schemeClr val="dk2"/>
            </a:solidFill>
            <a:prstDash val="solid"/>
            <a:round/>
            <a:headEnd type="none" w="med" len="med"/>
            <a:tailEnd type="none" w="med" len="med"/>
          </a:ln>
        </p:spPr>
      </p:cxnSp>
      <p:cxnSp>
        <p:nvCxnSpPr>
          <p:cNvPr id="493" name="Google Shape;493;p42"/>
          <p:cNvCxnSpPr>
            <a:stCxn id="471" idx="5"/>
            <a:endCxn id="480" idx="1"/>
          </p:cNvCxnSpPr>
          <p:nvPr/>
        </p:nvCxnSpPr>
        <p:spPr>
          <a:xfrm rot="10800000" flipH="1">
            <a:off x="7504053" y="2120626"/>
            <a:ext cx="968400" cy="1345500"/>
          </a:xfrm>
          <a:prstGeom prst="straightConnector1">
            <a:avLst/>
          </a:prstGeom>
          <a:noFill/>
          <a:ln w="9525" cap="flat" cmpd="sng">
            <a:solidFill>
              <a:schemeClr val="dk2"/>
            </a:solidFill>
            <a:prstDash val="solid"/>
            <a:round/>
            <a:headEnd type="none" w="med" len="med"/>
            <a:tailEnd type="none" w="med" len="med"/>
          </a:ln>
        </p:spPr>
      </p:cxnSp>
      <p:sp>
        <p:nvSpPr>
          <p:cNvPr id="494" name="Google Shape;494;p42"/>
          <p:cNvSpPr txBox="1"/>
          <p:nvPr/>
        </p:nvSpPr>
        <p:spPr>
          <a:xfrm>
            <a:off x="8165975" y="1618800"/>
            <a:ext cx="9816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latin typeface="Times New Roman" panose="02020603050405020304"/>
                <a:ea typeface="Times New Roman" panose="02020603050405020304"/>
                <a:cs typeface="Times New Roman" panose="02020603050405020304"/>
                <a:sym typeface="Times New Roman" panose="02020603050405020304"/>
              </a:rPr>
              <a:t>5 Emotions</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3"/>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00" name="Google Shape;500;p43"/>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(Multimodal)</a:t>
            </a:r>
            <a:endParaRPr sz="3000" b="1">
              <a:solidFill>
                <a:schemeClr val="lt1"/>
              </a:solidFill>
            </a:endParaRPr>
          </a:p>
        </p:txBody>
      </p:sp>
      <p:sp>
        <p:nvSpPr>
          <p:cNvPr id="501" name="Google Shape;501;p43"/>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02" name="Google Shape;502;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31</a:t>
            </a:r>
            <a:endParaRPr lang="en-GB">
              <a:solidFill>
                <a:schemeClr val="lt1"/>
              </a:solidFill>
            </a:endParaRPr>
          </a:p>
        </p:txBody>
      </p:sp>
      <p:sp>
        <p:nvSpPr>
          <p:cNvPr id="503" name="Google Shape;503;p43"/>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HuBERT + BERT (Concatenated)</a:t>
            </a:r>
            <a:endParaRPr i="1">
              <a:solidFill>
                <a:schemeClr val="dk1"/>
              </a:solidFill>
            </a:endParaRPr>
          </a:p>
          <a:p>
            <a:pPr marL="0" lvl="0" indent="0" algn="l" rtl="0">
              <a:spcBef>
                <a:spcPts val="1200"/>
              </a:spcBef>
              <a:spcAft>
                <a:spcPts val="1200"/>
              </a:spcAft>
              <a:buNone/>
            </a:pPr>
            <a:endParaRPr>
              <a:solidFill>
                <a:schemeClr val="dk1"/>
              </a:solidFill>
            </a:endParaRPr>
          </a:p>
        </p:txBody>
      </p:sp>
      <p:pic>
        <p:nvPicPr>
          <p:cNvPr id="504" name="Google Shape;504;p43"/>
          <p:cNvPicPr preferRelativeResize="0"/>
          <p:nvPr/>
        </p:nvPicPr>
        <p:blipFill>
          <a:blip r:embed="rId1"/>
          <a:stretch>
            <a:fillRect/>
          </a:stretch>
        </p:blipFill>
        <p:spPr>
          <a:xfrm>
            <a:off x="192405" y="1525375"/>
            <a:ext cx="3784549" cy="2750625"/>
          </a:xfrm>
          <a:prstGeom prst="rect">
            <a:avLst/>
          </a:prstGeom>
          <a:noFill/>
          <a:ln>
            <a:noFill/>
          </a:ln>
        </p:spPr>
      </p:pic>
      <p:pic>
        <p:nvPicPr>
          <p:cNvPr id="505" name="Google Shape;505;p43"/>
          <p:cNvPicPr preferRelativeResize="0"/>
          <p:nvPr/>
        </p:nvPicPr>
        <p:blipFill>
          <a:blip r:embed="rId2"/>
          <a:stretch>
            <a:fillRect/>
          </a:stretch>
        </p:blipFill>
        <p:spPr>
          <a:xfrm>
            <a:off x="4571999" y="1193238"/>
            <a:ext cx="4137500" cy="3414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4"/>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11" name="Google Shape;511;p44"/>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(Multimodal)</a:t>
            </a:r>
            <a:endParaRPr sz="3000" b="1">
              <a:solidFill>
                <a:schemeClr val="lt1"/>
              </a:solidFill>
            </a:endParaRPr>
          </a:p>
        </p:txBody>
      </p:sp>
      <p:sp>
        <p:nvSpPr>
          <p:cNvPr id="512" name="Google Shape;512;p44"/>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HuBERT + BERT (Attention)</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513" name="Google Shape;513;p44"/>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14" name="Google Shape;51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32</a:t>
            </a:r>
            <a:endParaRPr lang="en-GB">
              <a:solidFill>
                <a:schemeClr val="lt1"/>
              </a:solidFill>
            </a:endParaRPr>
          </a:p>
        </p:txBody>
      </p:sp>
      <p:pic>
        <p:nvPicPr>
          <p:cNvPr id="515" name="Google Shape;515;p44"/>
          <p:cNvPicPr preferRelativeResize="0"/>
          <p:nvPr/>
        </p:nvPicPr>
        <p:blipFill>
          <a:blip r:embed="rId1"/>
          <a:stretch>
            <a:fillRect/>
          </a:stretch>
        </p:blipFill>
        <p:spPr>
          <a:xfrm>
            <a:off x="104875" y="2659649"/>
            <a:ext cx="922825" cy="461412"/>
          </a:xfrm>
          <a:prstGeom prst="rect">
            <a:avLst/>
          </a:prstGeom>
          <a:noFill/>
          <a:ln>
            <a:noFill/>
          </a:ln>
        </p:spPr>
      </p:pic>
      <p:cxnSp>
        <p:nvCxnSpPr>
          <p:cNvPr id="516" name="Google Shape;516;p44"/>
          <p:cNvCxnSpPr>
            <a:stCxn id="515" idx="3"/>
          </p:cNvCxnSpPr>
          <p:nvPr/>
        </p:nvCxnSpPr>
        <p:spPr>
          <a:xfrm rot="10800000" flipH="1">
            <a:off x="1027700" y="2886155"/>
            <a:ext cx="528300" cy="4200"/>
          </a:xfrm>
          <a:prstGeom prst="straightConnector1">
            <a:avLst/>
          </a:prstGeom>
          <a:noFill/>
          <a:ln w="9525" cap="flat" cmpd="sng">
            <a:solidFill>
              <a:schemeClr val="dk2"/>
            </a:solidFill>
            <a:prstDash val="solid"/>
            <a:round/>
            <a:headEnd type="none" w="med" len="med"/>
            <a:tailEnd type="none" w="med" len="med"/>
          </a:ln>
        </p:spPr>
      </p:cxnSp>
      <p:cxnSp>
        <p:nvCxnSpPr>
          <p:cNvPr id="517" name="Google Shape;517;p44"/>
          <p:cNvCxnSpPr/>
          <p:nvPr/>
        </p:nvCxnSpPr>
        <p:spPr>
          <a:xfrm rot="10800000">
            <a:off x="1555850" y="2343500"/>
            <a:ext cx="0" cy="551100"/>
          </a:xfrm>
          <a:prstGeom prst="straightConnector1">
            <a:avLst/>
          </a:prstGeom>
          <a:noFill/>
          <a:ln w="9525" cap="flat" cmpd="sng">
            <a:solidFill>
              <a:schemeClr val="dk2"/>
            </a:solidFill>
            <a:prstDash val="solid"/>
            <a:round/>
            <a:headEnd type="none" w="med" len="med"/>
            <a:tailEnd type="none" w="med" len="med"/>
          </a:ln>
        </p:spPr>
      </p:cxnSp>
      <p:cxnSp>
        <p:nvCxnSpPr>
          <p:cNvPr id="518" name="Google Shape;518;p44"/>
          <p:cNvCxnSpPr/>
          <p:nvPr/>
        </p:nvCxnSpPr>
        <p:spPr>
          <a:xfrm rot="10800000">
            <a:off x="1555850" y="2886150"/>
            <a:ext cx="0" cy="551100"/>
          </a:xfrm>
          <a:prstGeom prst="straightConnector1">
            <a:avLst/>
          </a:prstGeom>
          <a:noFill/>
          <a:ln w="9525" cap="flat" cmpd="sng">
            <a:solidFill>
              <a:schemeClr val="dk2"/>
            </a:solidFill>
            <a:prstDash val="solid"/>
            <a:round/>
            <a:headEnd type="none" w="med" len="med"/>
            <a:tailEnd type="none" w="med" len="med"/>
          </a:ln>
        </p:spPr>
      </p:cxnSp>
      <p:cxnSp>
        <p:nvCxnSpPr>
          <p:cNvPr id="519" name="Google Shape;519;p44"/>
          <p:cNvCxnSpPr/>
          <p:nvPr/>
        </p:nvCxnSpPr>
        <p:spPr>
          <a:xfrm>
            <a:off x="1564200" y="2351875"/>
            <a:ext cx="592800" cy="0"/>
          </a:xfrm>
          <a:prstGeom prst="straightConnector1">
            <a:avLst/>
          </a:prstGeom>
          <a:noFill/>
          <a:ln w="9525" cap="flat" cmpd="sng">
            <a:solidFill>
              <a:schemeClr val="dk2"/>
            </a:solidFill>
            <a:prstDash val="solid"/>
            <a:round/>
            <a:headEnd type="none" w="med" len="med"/>
            <a:tailEnd type="triangle" w="med" len="med"/>
          </a:ln>
        </p:spPr>
      </p:cxnSp>
      <p:cxnSp>
        <p:nvCxnSpPr>
          <p:cNvPr id="520" name="Google Shape;520;p44"/>
          <p:cNvCxnSpPr/>
          <p:nvPr/>
        </p:nvCxnSpPr>
        <p:spPr>
          <a:xfrm>
            <a:off x="1564200" y="3437250"/>
            <a:ext cx="592800" cy="0"/>
          </a:xfrm>
          <a:prstGeom prst="straightConnector1">
            <a:avLst/>
          </a:prstGeom>
          <a:noFill/>
          <a:ln w="9525" cap="flat" cmpd="sng">
            <a:solidFill>
              <a:schemeClr val="dk2"/>
            </a:solidFill>
            <a:prstDash val="solid"/>
            <a:round/>
            <a:headEnd type="none" w="med" len="med"/>
            <a:tailEnd type="triangle" w="med" len="med"/>
          </a:ln>
        </p:spPr>
      </p:cxnSp>
      <p:sp>
        <p:nvSpPr>
          <p:cNvPr id="521" name="Google Shape;521;p44"/>
          <p:cNvSpPr/>
          <p:nvPr/>
        </p:nvSpPr>
        <p:spPr>
          <a:xfrm>
            <a:off x="2215500" y="3206550"/>
            <a:ext cx="1358400" cy="461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Whisper</a:t>
            </a:r>
            <a:endParaRPr lang="en-GB"/>
          </a:p>
        </p:txBody>
      </p:sp>
      <p:sp>
        <p:nvSpPr>
          <p:cNvPr id="522" name="Google Shape;522;p44"/>
          <p:cNvSpPr/>
          <p:nvPr/>
        </p:nvSpPr>
        <p:spPr>
          <a:xfrm>
            <a:off x="2215500" y="2121175"/>
            <a:ext cx="922800" cy="461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HuBERT</a:t>
            </a:r>
            <a:endParaRPr lang="en-GB"/>
          </a:p>
        </p:txBody>
      </p:sp>
      <p:cxnSp>
        <p:nvCxnSpPr>
          <p:cNvPr id="523" name="Google Shape;523;p44"/>
          <p:cNvCxnSpPr/>
          <p:nvPr/>
        </p:nvCxnSpPr>
        <p:spPr>
          <a:xfrm>
            <a:off x="3632400" y="3437250"/>
            <a:ext cx="592800" cy="0"/>
          </a:xfrm>
          <a:prstGeom prst="straightConnector1">
            <a:avLst/>
          </a:prstGeom>
          <a:noFill/>
          <a:ln w="9525" cap="flat" cmpd="sng">
            <a:solidFill>
              <a:schemeClr val="dk2"/>
            </a:solidFill>
            <a:prstDash val="solid"/>
            <a:round/>
            <a:headEnd type="none" w="med" len="med"/>
            <a:tailEnd type="triangle" w="med" len="med"/>
          </a:ln>
        </p:spPr>
      </p:cxnSp>
      <p:sp>
        <p:nvSpPr>
          <p:cNvPr id="524" name="Google Shape;524;p44"/>
          <p:cNvSpPr/>
          <p:nvPr/>
        </p:nvSpPr>
        <p:spPr>
          <a:xfrm>
            <a:off x="4283700" y="3206550"/>
            <a:ext cx="922800" cy="461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BERT</a:t>
            </a:r>
            <a:endParaRPr lang="en-GB"/>
          </a:p>
        </p:txBody>
      </p:sp>
      <p:sp>
        <p:nvSpPr>
          <p:cNvPr id="525" name="Google Shape;525;p44"/>
          <p:cNvSpPr txBox="1"/>
          <p:nvPr/>
        </p:nvSpPr>
        <p:spPr>
          <a:xfrm>
            <a:off x="291925" y="2447850"/>
            <a:ext cx="548700" cy="12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dk1"/>
                </a:solidFill>
                <a:latin typeface="Times New Roman" panose="02020603050405020304"/>
                <a:ea typeface="Times New Roman" panose="02020603050405020304"/>
                <a:cs typeface="Times New Roman" panose="02020603050405020304"/>
                <a:sym typeface="Times New Roman" panose="02020603050405020304"/>
              </a:rPr>
              <a:t>Audio</a:t>
            </a:r>
            <a:endParaRPr sz="1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6" name="Google Shape;526;p44"/>
          <p:cNvSpPr txBox="1"/>
          <p:nvPr/>
        </p:nvSpPr>
        <p:spPr>
          <a:xfrm>
            <a:off x="3727050" y="3121050"/>
            <a:ext cx="403500" cy="12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Times New Roman" panose="02020603050405020304"/>
                <a:ea typeface="Times New Roman" panose="02020603050405020304"/>
                <a:cs typeface="Times New Roman" panose="02020603050405020304"/>
                <a:sym typeface="Times New Roman" panose="02020603050405020304"/>
              </a:rPr>
              <a:t>Text</a:t>
            </a:r>
            <a:endParaRPr sz="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7" name="Google Shape;527;p44"/>
          <p:cNvSpPr txBox="1"/>
          <p:nvPr/>
        </p:nvSpPr>
        <p:spPr>
          <a:xfrm>
            <a:off x="176975" y="3829975"/>
            <a:ext cx="8785500" cy="6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For attention, we first use PCA to make two features have the same dimension, and then we take text as Query and audio as Key and Value to do the attention.</a:t>
            </a:r>
            <a:endParaRPr>
              <a:solidFill>
                <a:schemeClr val="dk1"/>
              </a:solidFill>
            </a:endParaRPr>
          </a:p>
        </p:txBody>
      </p:sp>
      <p:cxnSp>
        <p:nvCxnSpPr>
          <p:cNvPr id="528" name="Google Shape;528;p44"/>
          <p:cNvCxnSpPr>
            <a:stCxn id="522" idx="3"/>
          </p:cNvCxnSpPr>
          <p:nvPr/>
        </p:nvCxnSpPr>
        <p:spPr>
          <a:xfrm rot="10800000" flipH="1">
            <a:off x="3138300" y="2334775"/>
            <a:ext cx="2267400" cy="17100"/>
          </a:xfrm>
          <a:prstGeom prst="straightConnector1">
            <a:avLst/>
          </a:prstGeom>
          <a:noFill/>
          <a:ln w="9525" cap="flat" cmpd="sng">
            <a:solidFill>
              <a:schemeClr val="dk2"/>
            </a:solidFill>
            <a:prstDash val="solid"/>
            <a:round/>
            <a:headEnd type="none" w="med" len="med"/>
            <a:tailEnd type="none" w="med" len="med"/>
          </a:ln>
        </p:spPr>
      </p:cxnSp>
      <p:cxnSp>
        <p:nvCxnSpPr>
          <p:cNvPr id="529" name="Google Shape;529;p44"/>
          <p:cNvCxnSpPr/>
          <p:nvPr/>
        </p:nvCxnSpPr>
        <p:spPr>
          <a:xfrm rot="10800000">
            <a:off x="5401500" y="2339100"/>
            <a:ext cx="8400" cy="341400"/>
          </a:xfrm>
          <a:prstGeom prst="straightConnector1">
            <a:avLst/>
          </a:prstGeom>
          <a:noFill/>
          <a:ln w="9525" cap="flat" cmpd="sng">
            <a:solidFill>
              <a:schemeClr val="dk2"/>
            </a:solidFill>
            <a:prstDash val="solid"/>
            <a:round/>
            <a:headEnd type="none" w="med" len="med"/>
            <a:tailEnd type="none" w="med" len="med"/>
          </a:ln>
        </p:spPr>
      </p:cxnSp>
      <p:cxnSp>
        <p:nvCxnSpPr>
          <p:cNvPr id="530" name="Google Shape;530;p44"/>
          <p:cNvCxnSpPr>
            <a:stCxn id="524" idx="3"/>
          </p:cNvCxnSpPr>
          <p:nvPr/>
        </p:nvCxnSpPr>
        <p:spPr>
          <a:xfrm>
            <a:off x="5206500" y="3437250"/>
            <a:ext cx="207300" cy="600"/>
          </a:xfrm>
          <a:prstGeom prst="straightConnector1">
            <a:avLst/>
          </a:prstGeom>
          <a:noFill/>
          <a:ln w="9525" cap="flat" cmpd="sng">
            <a:solidFill>
              <a:schemeClr val="dk2"/>
            </a:solidFill>
            <a:prstDash val="solid"/>
            <a:round/>
            <a:headEnd type="none" w="med" len="med"/>
            <a:tailEnd type="none" w="med" len="med"/>
          </a:ln>
        </p:spPr>
      </p:cxnSp>
      <p:cxnSp>
        <p:nvCxnSpPr>
          <p:cNvPr id="531" name="Google Shape;531;p44"/>
          <p:cNvCxnSpPr/>
          <p:nvPr/>
        </p:nvCxnSpPr>
        <p:spPr>
          <a:xfrm rot="10800000">
            <a:off x="5401500" y="3095850"/>
            <a:ext cx="8400" cy="34140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44"/>
          <p:cNvCxnSpPr/>
          <p:nvPr/>
        </p:nvCxnSpPr>
        <p:spPr>
          <a:xfrm>
            <a:off x="5405700" y="3101100"/>
            <a:ext cx="312000" cy="0"/>
          </a:xfrm>
          <a:prstGeom prst="straightConnector1">
            <a:avLst/>
          </a:prstGeom>
          <a:noFill/>
          <a:ln w="9525" cap="flat" cmpd="sng">
            <a:solidFill>
              <a:schemeClr val="dk2"/>
            </a:solidFill>
            <a:prstDash val="solid"/>
            <a:round/>
            <a:headEnd type="none" w="med" len="med"/>
            <a:tailEnd type="triangle" w="med" len="med"/>
          </a:ln>
        </p:spPr>
      </p:cxnSp>
      <p:cxnSp>
        <p:nvCxnSpPr>
          <p:cNvPr id="533" name="Google Shape;533;p44"/>
          <p:cNvCxnSpPr/>
          <p:nvPr/>
        </p:nvCxnSpPr>
        <p:spPr>
          <a:xfrm>
            <a:off x="5413800" y="2680500"/>
            <a:ext cx="312000" cy="0"/>
          </a:xfrm>
          <a:prstGeom prst="straightConnector1">
            <a:avLst/>
          </a:prstGeom>
          <a:noFill/>
          <a:ln w="9525" cap="flat" cmpd="sng">
            <a:solidFill>
              <a:schemeClr val="dk2"/>
            </a:solidFill>
            <a:prstDash val="solid"/>
            <a:round/>
            <a:headEnd type="none" w="med" len="med"/>
            <a:tailEnd type="triangle" w="med" len="med"/>
          </a:ln>
        </p:spPr>
      </p:cxnSp>
      <p:sp>
        <p:nvSpPr>
          <p:cNvPr id="534" name="Google Shape;534;p44"/>
          <p:cNvSpPr/>
          <p:nvPr/>
        </p:nvSpPr>
        <p:spPr>
          <a:xfrm>
            <a:off x="5729700" y="2606975"/>
            <a:ext cx="981600" cy="551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000">
                <a:latin typeface="Times New Roman" panose="02020603050405020304"/>
                <a:ea typeface="Times New Roman" panose="02020603050405020304"/>
                <a:cs typeface="Times New Roman" panose="02020603050405020304"/>
                <a:sym typeface="Times New Roman" panose="02020603050405020304"/>
              </a:rPr>
              <a:t>Attention</a:t>
            </a:r>
            <a:endParaRPr sz="1000">
              <a:latin typeface="Times New Roman" panose="02020603050405020304"/>
              <a:ea typeface="Times New Roman" panose="02020603050405020304"/>
              <a:cs typeface="Times New Roman" panose="02020603050405020304"/>
              <a:sym typeface="Times New Roman" panose="02020603050405020304"/>
            </a:endParaRPr>
          </a:p>
        </p:txBody>
      </p:sp>
      <p:sp>
        <p:nvSpPr>
          <p:cNvPr id="535" name="Google Shape;535;p44"/>
          <p:cNvSpPr/>
          <p:nvPr/>
        </p:nvSpPr>
        <p:spPr>
          <a:xfrm>
            <a:off x="7195750" y="2058275"/>
            <a:ext cx="361200" cy="1649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cxnSp>
        <p:nvCxnSpPr>
          <p:cNvPr id="536" name="Google Shape;536;p44"/>
          <p:cNvCxnSpPr>
            <a:stCxn id="534" idx="3"/>
            <a:endCxn id="535" idx="1"/>
          </p:cNvCxnSpPr>
          <p:nvPr/>
        </p:nvCxnSpPr>
        <p:spPr>
          <a:xfrm rot="10800000" flipH="1">
            <a:off x="6711300" y="2299925"/>
            <a:ext cx="537300" cy="58260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44"/>
          <p:cNvCxnSpPr>
            <a:stCxn id="534" idx="3"/>
          </p:cNvCxnSpPr>
          <p:nvPr/>
        </p:nvCxnSpPr>
        <p:spPr>
          <a:xfrm rot="10800000" flipH="1">
            <a:off x="6711300" y="2575625"/>
            <a:ext cx="501000" cy="306900"/>
          </a:xfrm>
          <a:prstGeom prst="straightConnector1">
            <a:avLst/>
          </a:prstGeom>
          <a:noFill/>
          <a:ln w="9525" cap="flat" cmpd="sng">
            <a:solidFill>
              <a:schemeClr val="dk2"/>
            </a:solidFill>
            <a:prstDash val="solid"/>
            <a:round/>
            <a:headEnd type="none" w="med" len="med"/>
            <a:tailEnd type="none" w="med" len="med"/>
          </a:ln>
        </p:spPr>
      </p:cxnSp>
      <p:sp>
        <p:nvSpPr>
          <p:cNvPr id="538" name="Google Shape;538;p44"/>
          <p:cNvSpPr txBox="1"/>
          <p:nvPr/>
        </p:nvSpPr>
        <p:spPr>
          <a:xfrm rot="5400000">
            <a:off x="7112550" y="2862563"/>
            <a:ext cx="312000" cy="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dk2"/>
                </a:solidFill>
              </a:rPr>
              <a:t>…</a:t>
            </a:r>
            <a:endParaRPr sz="1000">
              <a:solidFill>
                <a:schemeClr val="dk2"/>
              </a:solidFill>
            </a:endParaRPr>
          </a:p>
        </p:txBody>
      </p:sp>
      <p:cxnSp>
        <p:nvCxnSpPr>
          <p:cNvPr id="539" name="Google Shape;539;p44"/>
          <p:cNvCxnSpPr>
            <a:stCxn id="534" idx="3"/>
          </p:cNvCxnSpPr>
          <p:nvPr/>
        </p:nvCxnSpPr>
        <p:spPr>
          <a:xfrm>
            <a:off x="6711300" y="2882525"/>
            <a:ext cx="501000" cy="341700"/>
          </a:xfrm>
          <a:prstGeom prst="straightConnector1">
            <a:avLst/>
          </a:prstGeom>
          <a:noFill/>
          <a:ln w="9525" cap="flat" cmpd="sng">
            <a:solidFill>
              <a:schemeClr val="dk2"/>
            </a:solidFill>
            <a:prstDash val="solid"/>
            <a:round/>
            <a:headEnd type="none" w="med" len="med"/>
            <a:tailEnd type="none" w="med" len="med"/>
          </a:ln>
        </p:spPr>
      </p:cxnSp>
      <p:cxnSp>
        <p:nvCxnSpPr>
          <p:cNvPr id="540" name="Google Shape;540;p44"/>
          <p:cNvCxnSpPr>
            <a:stCxn id="534" idx="3"/>
            <a:endCxn id="535" idx="3"/>
          </p:cNvCxnSpPr>
          <p:nvPr/>
        </p:nvCxnSpPr>
        <p:spPr>
          <a:xfrm>
            <a:off x="6711300" y="2882525"/>
            <a:ext cx="537300" cy="583500"/>
          </a:xfrm>
          <a:prstGeom prst="straightConnector1">
            <a:avLst/>
          </a:prstGeom>
          <a:noFill/>
          <a:ln w="9525" cap="flat" cmpd="sng">
            <a:solidFill>
              <a:schemeClr val="dk2"/>
            </a:solidFill>
            <a:prstDash val="solid"/>
            <a:round/>
            <a:headEnd type="none" w="med" len="med"/>
            <a:tailEnd type="none" w="med" len="med"/>
          </a:ln>
        </p:spPr>
      </p:cxnSp>
      <p:sp>
        <p:nvSpPr>
          <p:cNvPr id="541" name="Google Shape;541;p44"/>
          <p:cNvSpPr txBox="1"/>
          <p:nvPr/>
        </p:nvSpPr>
        <p:spPr>
          <a:xfrm>
            <a:off x="7006900" y="1727200"/>
            <a:ext cx="7965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latin typeface="Times New Roman" panose="02020603050405020304"/>
                <a:ea typeface="Times New Roman" panose="02020603050405020304"/>
                <a:cs typeface="Times New Roman" panose="02020603050405020304"/>
                <a:sym typeface="Times New Roman" panose="02020603050405020304"/>
              </a:rPr>
              <a:t>Dim: 256</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2" name="Google Shape;542;p44"/>
          <p:cNvSpPr/>
          <p:nvPr/>
        </p:nvSpPr>
        <p:spPr>
          <a:xfrm>
            <a:off x="8472450" y="2370150"/>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43" name="Google Shape;543;p44"/>
          <p:cNvSpPr/>
          <p:nvPr/>
        </p:nvSpPr>
        <p:spPr>
          <a:xfrm>
            <a:off x="8472450" y="2759375"/>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44" name="Google Shape;544;p44"/>
          <p:cNvSpPr/>
          <p:nvPr/>
        </p:nvSpPr>
        <p:spPr>
          <a:xfrm>
            <a:off x="8472450" y="1980925"/>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45" name="Google Shape;545;p44"/>
          <p:cNvSpPr/>
          <p:nvPr/>
        </p:nvSpPr>
        <p:spPr>
          <a:xfrm>
            <a:off x="8463300" y="3148600"/>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46" name="Google Shape;546;p44"/>
          <p:cNvSpPr/>
          <p:nvPr/>
        </p:nvSpPr>
        <p:spPr>
          <a:xfrm>
            <a:off x="8472450" y="3516688"/>
            <a:ext cx="312000" cy="279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cxnSp>
        <p:nvCxnSpPr>
          <p:cNvPr id="547" name="Google Shape;547;p44"/>
          <p:cNvCxnSpPr>
            <a:stCxn id="535" idx="7"/>
            <a:endCxn id="544" idx="1"/>
          </p:cNvCxnSpPr>
          <p:nvPr/>
        </p:nvCxnSpPr>
        <p:spPr>
          <a:xfrm rot="10800000" flipH="1">
            <a:off x="7504053" y="2120724"/>
            <a:ext cx="968400" cy="179100"/>
          </a:xfrm>
          <a:prstGeom prst="straightConnector1">
            <a:avLst/>
          </a:prstGeom>
          <a:noFill/>
          <a:ln w="9525" cap="flat" cmpd="sng">
            <a:solidFill>
              <a:schemeClr val="dk2"/>
            </a:solidFill>
            <a:prstDash val="solid"/>
            <a:round/>
            <a:headEnd type="none" w="med" len="med"/>
            <a:tailEnd type="none" w="med" len="med"/>
          </a:ln>
        </p:spPr>
      </p:cxnSp>
      <p:cxnSp>
        <p:nvCxnSpPr>
          <p:cNvPr id="548" name="Google Shape;548;p44"/>
          <p:cNvCxnSpPr>
            <a:stCxn id="535" idx="7"/>
            <a:endCxn id="542" idx="1"/>
          </p:cNvCxnSpPr>
          <p:nvPr/>
        </p:nvCxnSpPr>
        <p:spPr>
          <a:xfrm>
            <a:off x="7504053" y="2299824"/>
            <a:ext cx="968400" cy="210000"/>
          </a:xfrm>
          <a:prstGeom prst="straightConnector1">
            <a:avLst/>
          </a:prstGeom>
          <a:noFill/>
          <a:ln w="9525" cap="flat" cmpd="sng">
            <a:solidFill>
              <a:schemeClr val="dk2"/>
            </a:solidFill>
            <a:prstDash val="solid"/>
            <a:round/>
            <a:headEnd type="none" w="med" len="med"/>
            <a:tailEnd type="none" w="med" len="med"/>
          </a:ln>
        </p:spPr>
      </p:cxnSp>
      <p:cxnSp>
        <p:nvCxnSpPr>
          <p:cNvPr id="549" name="Google Shape;549;p44"/>
          <p:cNvCxnSpPr>
            <a:stCxn id="535" idx="7"/>
            <a:endCxn id="543" idx="1"/>
          </p:cNvCxnSpPr>
          <p:nvPr/>
        </p:nvCxnSpPr>
        <p:spPr>
          <a:xfrm>
            <a:off x="7504053" y="2299824"/>
            <a:ext cx="968400" cy="599100"/>
          </a:xfrm>
          <a:prstGeom prst="straightConnector1">
            <a:avLst/>
          </a:prstGeom>
          <a:noFill/>
          <a:ln w="9525" cap="flat" cmpd="sng">
            <a:solidFill>
              <a:schemeClr val="dk2"/>
            </a:solidFill>
            <a:prstDash val="solid"/>
            <a:round/>
            <a:headEnd type="none" w="med" len="med"/>
            <a:tailEnd type="none" w="med" len="med"/>
          </a:ln>
        </p:spPr>
      </p:cxnSp>
      <p:cxnSp>
        <p:nvCxnSpPr>
          <p:cNvPr id="550" name="Google Shape;550;p44"/>
          <p:cNvCxnSpPr>
            <a:stCxn id="535" idx="7"/>
            <a:endCxn id="545" idx="1"/>
          </p:cNvCxnSpPr>
          <p:nvPr/>
        </p:nvCxnSpPr>
        <p:spPr>
          <a:xfrm>
            <a:off x="7504053" y="2299824"/>
            <a:ext cx="959100" cy="988500"/>
          </a:xfrm>
          <a:prstGeom prst="straightConnector1">
            <a:avLst/>
          </a:prstGeom>
          <a:noFill/>
          <a:ln w="9525" cap="flat" cmpd="sng">
            <a:solidFill>
              <a:schemeClr val="dk2"/>
            </a:solidFill>
            <a:prstDash val="solid"/>
            <a:round/>
            <a:headEnd type="none" w="med" len="med"/>
            <a:tailEnd type="none" w="med" len="med"/>
          </a:ln>
        </p:spPr>
      </p:cxnSp>
      <p:cxnSp>
        <p:nvCxnSpPr>
          <p:cNvPr id="551" name="Google Shape;551;p44"/>
          <p:cNvCxnSpPr>
            <a:stCxn id="535" idx="7"/>
            <a:endCxn id="546" idx="1"/>
          </p:cNvCxnSpPr>
          <p:nvPr/>
        </p:nvCxnSpPr>
        <p:spPr>
          <a:xfrm>
            <a:off x="7504053" y="2299824"/>
            <a:ext cx="968400" cy="1356600"/>
          </a:xfrm>
          <a:prstGeom prst="straightConnector1">
            <a:avLst/>
          </a:prstGeom>
          <a:noFill/>
          <a:ln w="9525" cap="flat" cmpd="sng">
            <a:solidFill>
              <a:schemeClr val="dk2"/>
            </a:solidFill>
            <a:prstDash val="solid"/>
            <a:round/>
            <a:headEnd type="none" w="med" len="med"/>
            <a:tailEnd type="none" w="med" len="med"/>
          </a:ln>
        </p:spPr>
      </p:cxnSp>
      <p:sp>
        <p:nvSpPr>
          <p:cNvPr id="552" name="Google Shape;552;p44"/>
          <p:cNvSpPr txBox="1"/>
          <p:nvPr/>
        </p:nvSpPr>
        <p:spPr>
          <a:xfrm rot="5400000">
            <a:off x="7724475" y="2862563"/>
            <a:ext cx="312000" cy="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dk2"/>
                </a:solidFill>
              </a:rPr>
              <a:t>…</a:t>
            </a:r>
            <a:endParaRPr sz="1000">
              <a:solidFill>
                <a:schemeClr val="dk2"/>
              </a:solidFill>
            </a:endParaRPr>
          </a:p>
        </p:txBody>
      </p:sp>
      <p:cxnSp>
        <p:nvCxnSpPr>
          <p:cNvPr id="553" name="Google Shape;553;p44"/>
          <p:cNvCxnSpPr>
            <a:stCxn id="535" idx="5"/>
            <a:endCxn id="546" idx="1"/>
          </p:cNvCxnSpPr>
          <p:nvPr/>
        </p:nvCxnSpPr>
        <p:spPr>
          <a:xfrm>
            <a:off x="7504053" y="3466126"/>
            <a:ext cx="968400" cy="190200"/>
          </a:xfrm>
          <a:prstGeom prst="straightConnector1">
            <a:avLst/>
          </a:prstGeom>
          <a:noFill/>
          <a:ln w="9525" cap="flat" cmpd="sng">
            <a:solidFill>
              <a:schemeClr val="dk2"/>
            </a:solidFill>
            <a:prstDash val="solid"/>
            <a:round/>
            <a:headEnd type="none" w="med" len="med"/>
            <a:tailEnd type="none" w="med" len="med"/>
          </a:ln>
        </p:spPr>
      </p:cxnSp>
      <p:cxnSp>
        <p:nvCxnSpPr>
          <p:cNvPr id="554" name="Google Shape;554;p44"/>
          <p:cNvCxnSpPr>
            <a:stCxn id="535" idx="5"/>
            <a:endCxn id="545" idx="1"/>
          </p:cNvCxnSpPr>
          <p:nvPr/>
        </p:nvCxnSpPr>
        <p:spPr>
          <a:xfrm rot="10800000" flipH="1">
            <a:off x="7504053" y="3288226"/>
            <a:ext cx="959100" cy="177900"/>
          </a:xfrm>
          <a:prstGeom prst="straightConnector1">
            <a:avLst/>
          </a:prstGeom>
          <a:noFill/>
          <a:ln w="9525" cap="flat" cmpd="sng">
            <a:solidFill>
              <a:schemeClr val="dk2"/>
            </a:solidFill>
            <a:prstDash val="solid"/>
            <a:round/>
            <a:headEnd type="none" w="med" len="med"/>
            <a:tailEnd type="none" w="med" len="med"/>
          </a:ln>
        </p:spPr>
      </p:cxnSp>
      <p:cxnSp>
        <p:nvCxnSpPr>
          <p:cNvPr id="555" name="Google Shape;555;p44"/>
          <p:cNvCxnSpPr>
            <a:stCxn id="535" idx="5"/>
            <a:endCxn id="543" idx="1"/>
          </p:cNvCxnSpPr>
          <p:nvPr/>
        </p:nvCxnSpPr>
        <p:spPr>
          <a:xfrm rot="10800000" flipH="1">
            <a:off x="7504053" y="2899126"/>
            <a:ext cx="968400" cy="567000"/>
          </a:xfrm>
          <a:prstGeom prst="straightConnector1">
            <a:avLst/>
          </a:prstGeom>
          <a:noFill/>
          <a:ln w="9525" cap="flat" cmpd="sng">
            <a:solidFill>
              <a:schemeClr val="dk2"/>
            </a:solidFill>
            <a:prstDash val="solid"/>
            <a:round/>
            <a:headEnd type="none" w="med" len="med"/>
            <a:tailEnd type="none" w="med" len="med"/>
          </a:ln>
        </p:spPr>
      </p:cxnSp>
      <p:cxnSp>
        <p:nvCxnSpPr>
          <p:cNvPr id="556" name="Google Shape;556;p44"/>
          <p:cNvCxnSpPr>
            <a:stCxn id="535" idx="5"/>
            <a:endCxn id="542" idx="1"/>
          </p:cNvCxnSpPr>
          <p:nvPr/>
        </p:nvCxnSpPr>
        <p:spPr>
          <a:xfrm rot="10800000" flipH="1">
            <a:off x="7504053" y="2509726"/>
            <a:ext cx="968400" cy="956400"/>
          </a:xfrm>
          <a:prstGeom prst="straightConnector1">
            <a:avLst/>
          </a:prstGeom>
          <a:noFill/>
          <a:ln w="9525" cap="flat" cmpd="sng">
            <a:solidFill>
              <a:schemeClr val="dk2"/>
            </a:solidFill>
            <a:prstDash val="solid"/>
            <a:round/>
            <a:headEnd type="none" w="med" len="med"/>
            <a:tailEnd type="none" w="med" len="med"/>
          </a:ln>
        </p:spPr>
      </p:cxnSp>
      <p:cxnSp>
        <p:nvCxnSpPr>
          <p:cNvPr id="557" name="Google Shape;557;p44"/>
          <p:cNvCxnSpPr>
            <a:stCxn id="535" idx="5"/>
            <a:endCxn id="544" idx="1"/>
          </p:cNvCxnSpPr>
          <p:nvPr/>
        </p:nvCxnSpPr>
        <p:spPr>
          <a:xfrm rot="10800000" flipH="1">
            <a:off x="7504053" y="2120626"/>
            <a:ext cx="968400" cy="1345500"/>
          </a:xfrm>
          <a:prstGeom prst="straightConnector1">
            <a:avLst/>
          </a:prstGeom>
          <a:noFill/>
          <a:ln w="9525" cap="flat" cmpd="sng">
            <a:solidFill>
              <a:schemeClr val="dk2"/>
            </a:solidFill>
            <a:prstDash val="solid"/>
            <a:round/>
            <a:headEnd type="none" w="med" len="med"/>
            <a:tailEnd type="none" w="med" len="med"/>
          </a:ln>
        </p:spPr>
      </p:cxnSp>
      <p:sp>
        <p:nvSpPr>
          <p:cNvPr id="558" name="Google Shape;558;p44"/>
          <p:cNvSpPr txBox="1"/>
          <p:nvPr/>
        </p:nvSpPr>
        <p:spPr>
          <a:xfrm>
            <a:off x="8165975" y="1618800"/>
            <a:ext cx="9816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2"/>
                </a:solidFill>
                <a:latin typeface="Times New Roman" panose="02020603050405020304"/>
                <a:ea typeface="Times New Roman" panose="02020603050405020304"/>
                <a:cs typeface="Times New Roman" panose="02020603050405020304"/>
                <a:sym typeface="Times New Roman" panose="02020603050405020304"/>
              </a:rPr>
              <a:t>5 Emotions</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45"/>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64" name="Google Shape;564;p45"/>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(Multimodal)</a:t>
            </a:r>
            <a:endParaRPr sz="3000" b="1">
              <a:solidFill>
                <a:schemeClr val="lt1"/>
              </a:solidFill>
            </a:endParaRPr>
          </a:p>
        </p:txBody>
      </p:sp>
      <p:sp>
        <p:nvSpPr>
          <p:cNvPr id="565" name="Google Shape;565;p45"/>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HuBERT + BERT (Attention)</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566" name="Google Shape;566;p45"/>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67" name="Google Shape;567;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33</a:t>
            </a:r>
            <a:endParaRPr lang="en-GB">
              <a:solidFill>
                <a:schemeClr val="lt1"/>
              </a:solidFill>
            </a:endParaRPr>
          </a:p>
        </p:txBody>
      </p:sp>
      <p:pic>
        <p:nvPicPr>
          <p:cNvPr id="568" name="Google Shape;568;p45"/>
          <p:cNvPicPr preferRelativeResize="0"/>
          <p:nvPr/>
        </p:nvPicPr>
        <p:blipFill>
          <a:blip r:embed="rId1"/>
          <a:stretch>
            <a:fillRect/>
          </a:stretch>
        </p:blipFill>
        <p:spPr>
          <a:xfrm>
            <a:off x="253300" y="1444450"/>
            <a:ext cx="3764699" cy="3153100"/>
          </a:xfrm>
          <a:prstGeom prst="rect">
            <a:avLst/>
          </a:prstGeom>
          <a:noFill/>
          <a:ln>
            <a:noFill/>
          </a:ln>
        </p:spPr>
      </p:pic>
      <p:pic>
        <p:nvPicPr>
          <p:cNvPr id="569" name="Google Shape;569;p45"/>
          <p:cNvPicPr preferRelativeResize="0"/>
          <p:nvPr/>
        </p:nvPicPr>
        <p:blipFill rotWithShape="1">
          <a:blip r:embed="rId2"/>
          <a:srcRect t="1864"/>
          <a:stretch>
            <a:fillRect/>
          </a:stretch>
        </p:blipFill>
        <p:spPr>
          <a:xfrm>
            <a:off x="4384625" y="1905700"/>
            <a:ext cx="3829300" cy="2230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46"/>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75" name="Google Shape;575;p46"/>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Deep Learning Approach (Multimodal)</a:t>
            </a:r>
            <a:endParaRPr sz="3000" b="1">
              <a:solidFill>
                <a:schemeClr val="lt1"/>
              </a:solidFill>
            </a:endParaRPr>
          </a:p>
        </p:txBody>
      </p:sp>
      <p:sp>
        <p:nvSpPr>
          <p:cNvPr id="576" name="Google Shape;576;p46"/>
          <p:cNvSpPr txBox="1">
            <a:spLocks noGrp="1"/>
          </p:cNvSpPr>
          <p:nvPr>
            <p:ph type="body" idx="1"/>
          </p:nvPr>
        </p:nvSpPr>
        <p:spPr>
          <a:xfrm>
            <a:off x="0" y="1061400"/>
            <a:ext cx="9144000" cy="367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i="1">
                <a:solidFill>
                  <a:schemeClr val="dk1"/>
                </a:solidFill>
              </a:rPr>
              <a:t>WaveLM + BERT (Attention)</a:t>
            </a:r>
            <a:endParaRPr i="1">
              <a:solidFill>
                <a:schemeClr val="dk1"/>
              </a:solidFill>
            </a:endParaRPr>
          </a:p>
          <a:p>
            <a:pPr marL="0" lvl="0" indent="0" algn="l" rtl="0">
              <a:spcBef>
                <a:spcPts val="1200"/>
              </a:spcBef>
              <a:spcAft>
                <a:spcPts val="1200"/>
              </a:spcAft>
              <a:buNone/>
            </a:pPr>
            <a:endParaRPr>
              <a:solidFill>
                <a:schemeClr val="dk1"/>
              </a:solidFill>
            </a:endParaRPr>
          </a:p>
        </p:txBody>
      </p:sp>
      <p:sp>
        <p:nvSpPr>
          <p:cNvPr id="577" name="Google Shape;577;p46"/>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78" name="Google Shape;578;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34</a:t>
            </a:r>
            <a:endParaRPr lang="en-GB">
              <a:solidFill>
                <a:schemeClr val="lt1"/>
              </a:solidFill>
            </a:endParaRPr>
          </a:p>
        </p:txBody>
      </p:sp>
      <p:pic>
        <p:nvPicPr>
          <p:cNvPr id="579" name="Google Shape;579;p46"/>
          <p:cNvPicPr preferRelativeResize="0"/>
          <p:nvPr/>
        </p:nvPicPr>
        <p:blipFill>
          <a:blip r:embed="rId1"/>
          <a:stretch>
            <a:fillRect/>
          </a:stretch>
        </p:blipFill>
        <p:spPr>
          <a:xfrm>
            <a:off x="252701" y="1488225"/>
            <a:ext cx="3708376" cy="3175000"/>
          </a:xfrm>
          <a:prstGeom prst="rect">
            <a:avLst/>
          </a:prstGeom>
          <a:noFill/>
          <a:ln>
            <a:noFill/>
          </a:ln>
        </p:spPr>
      </p:pic>
      <p:pic>
        <p:nvPicPr>
          <p:cNvPr id="580" name="Google Shape;580;p46"/>
          <p:cNvPicPr preferRelativeResize="0"/>
          <p:nvPr/>
        </p:nvPicPr>
        <p:blipFill rotWithShape="1">
          <a:blip r:embed="rId2"/>
          <a:srcRect l="1520" t="1095" r="-1520" b="1085"/>
          <a:stretch>
            <a:fillRect/>
          </a:stretch>
        </p:blipFill>
        <p:spPr>
          <a:xfrm>
            <a:off x="4631125" y="1935100"/>
            <a:ext cx="3893700" cy="2333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47"/>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86" name="Google Shape;586;p47"/>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Experiment Result Table (MELD)</a:t>
            </a:r>
            <a:endParaRPr sz="3000" b="1">
              <a:solidFill>
                <a:schemeClr val="lt1"/>
              </a:solidFill>
            </a:endParaRPr>
          </a:p>
        </p:txBody>
      </p:sp>
      <p:sp>
        <p:nvSpPr>
          <p:cNvPr id="587" name="Google Shape;587;p47"/>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88" name="Google Shape;588;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35</a:t>
            </a:r>
            <a:endParaRPr lang="en-GB">
              <a:solidFill>
                <a:schemeClr val="lt1"/>
              </a:solidFill>
            </a:endParaRPr>
          </a:p>
        </p:txBody>
      </p:sp>
      <p:graphicFrame>
        <p:nvGraphicFramePr>
          <p:cNvPr id="589" name="Google Shape;589;p47"/>
          <p:cNvGraphicFramePr/>
          <p:nvPr/>
        </p:nvGraphicFramePr>
        <p:xfrm>
          <a:off x="952475" y="1712788"/>
          <a:ext cx="7239050" cy="3000000"/>
        </p:xfrm>
        <a:graphic>
          <a:graphicData uri="http://schemas.openxmlformats.org/drawingml/2006/table">
            <a:tbl>
              <a:tblPr>
                <a:noFill/>
                <a:tableStyleId>{97FB59A7-EC65-4619-BF9D-75ABF18B6576}</a:tableStyleId>
              </a:tblPr>
              <a:tblGrid>
                <a:gridCol w="1034150"/>
                <a:gridCol w="1114650"/>
                <a:gridCol w="1014550"/>
                <a:gridCol w="707725"/>
                <a:gridCol w="1219175"/>
                <a:gridCol w="1016225"/>
                <a:gridCol w="1132575"/>
              </a:tblGrid>
              <a:tr h="1943250">
                <a:tc>
                  <a:txBody>
                    <a:bodyPr/>
                    <a:lstStyle/>
                    <a:p>
                      <a:pPr marL="0" lvl="0" indent="0" algn="l" rtl="0">
                        <a:spcBef>
                          <a:spcPts val="0"/>
                        </a:spcBef>
                        <a:spcAft>
                          <a:spcPts val="0"/>
                        </a:spcAft>
                        <a:buNone/>
                      </a:pP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SVM/</a:t>
                      </a:r>
                      <a:endParaRPr>
                        <a:solidFill>
                          <a:schemeClr val="dk1"/>
                        </a:solidFill>
                      </a:endParaRPr>
                    </a:p>
                    <a:p>
                      <a:pPr marL="0" lvl="0" indent="0" algn="l" rtl="0">
                        <a:spcBef>
                          <a:spcPts val="0"/>
                        </a:spcBef>
                        <a:spcAft>
                          <a:spcPts val="0"/>
                        </a:spcAft>
                        <a:buNone/>
                      </a:pPr>
                      <a:r>
                        <a:rPr lang="en-GB">
                          <a:solidFill>
                            <a:schemeClr val="dk1"/>
                          </a:solidFill>
                        </a:rPr>
                        <a:t>GMM/</a:t>
                      </a:r>
                      <a:endParaRPr>
                        <a:solidFill>
                          <a:schemeClr val="dk1"/>
                        </a:solidFill>
                      </a:endParaRPr>
                    </a:p>
                    <a:p>
                      <a:pPr marL="0" lvl="0" indent="0" algn="l" rtl="0">
                        <a:lnSpc>
                          <a:spcPct val="115000"/>
                        </a:lnSpc>
                        <a:spcBef>
                          <a:spcPts val="0"/>
                        </a:spcBef>
                        <a:spcAft>
                          <a:spcPts val="1200"/>
                        </a:spcAft>
                        <a:buClr>
                          <a:schemeClr val="dk1"/>
                        </a:buClr>
                        <a:buSzPts val="1100"/>
                        <a:buFont typeface="Arial" panose="020B0704020202020204"/>
                        <a:buNone/>
                      </a:pPr>
                      <a:r>
                        <a:rPr lang="en-GB">
                          <a:solidFill>
                            <a:schemeClr val="dk1"/>
                          </a:solidFill>
                        </a:rPr>
                        <a:t>Gradient Boosting</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HuBERT</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BERT</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HuBERT+</a:t>
                      </a:r>
                      <a:endParaRPr>
                        <a:solidFill>
                          <a:schemeClr val="dk1"/>
                        </a:solidFill>
                      </a:endParaRPr>
                    </a:p>
                    <a:p>
                      <a:pPr marL="0" lvl="0" indent="0" algn="l" rtl="0">
                        <a:spcBef>
                          <a:spcPts val="0"/>
                        </a:spcBef>
                        <a:spcAft>
                          <a:spcPts val="0"/>
                        </a:spcAft>
                        <a:buNone/>
                      </a:pPr>
                      <a:r>
                        <a:rPr lang="en-GB">
                          <a:solidFill>
                            <a:schemeClr val="dk1"/>
                          </a:solidFill>
                        </a:rPr>
                        <a:t>BERT+</a:t>
                      </a:r>
                      <a:endParaRPr>
                        <a:solidFill>
                          <a:schemeClr val="dk1"/>
                        </a:solidFill>
                      </a:endParaRPr>
                    </a:p>
                    <a:p>
                      <a:pPr marL="0" lvl="0" indent="0" algn="l" rtl="0">
                        <a:spcBef>
                          <a:spcPts val="0"/>
                        </a:spcBef>
                        <a:spcAft>
                          <a:spcPts val="0"/>
                        </a:spcAft>
                        <a:buNone/>
                      </a:pPr>
                      <a:r>
                        <a:rPr lang="en-GB">
                          <a:solidFill>
                            <a:schemeClr val="dk1"/>
                          </a:solidFill>
                        </a:rPr>
                        <a:t>Concatenate</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b="1">
                          <a:solidFill>
                            <a:schemeClr val="dk1"/>
                          </a:solidFill>
                        </a:rPr>
                        <a:t>HuBERT+</a:t>
                      </a:r>
                      <a:endParaRPr b="1">
                        <a:solidFill>
                          <a:schemeClr val="dk1"/>
                        </a:solidFill>
                      </a:endParaRPr>
                    </a:p>
                    <a:p>
                      <a:pPr marL="0" lvl="0" indent="0" algn="l" rtl="0">
                        <a:spcBef>
                          <a:spcPts val="0"/>
                        </a:spcBef>
                        <a:spcAft>
                          <a:spcPts val="0"/>
                        </a:spcAft>
                        <a:buNone/>
                      </a:pPr>
                      <a:r>
                        <a:rPr lang="en-GB" b="1">
                          <a:solidFill>
                            <a:schemeClr val="dk1"/>
                          </a:solidFill>
                        </a:rPr>
                        <a:t>BERT+</a:t>
                      </a:r>
                      <a:endParaRPr b="1">
                        <a:solidFill>
                          <a:schemeClr val="dk1"/>
                        </a:solidFill>
                      </a:endParaRPr>
                    </a:p>
                    <a:p>
                      <a:pPr marL="0" lvl="0" indent="0" algn="l" rtl="0">
                        <a:spcBef>
                          <a:spcPts val="0"/>
                        </a:spcBef>
                        <a:spcAft>
                          <a:spcPts val="0"/>
                        </a:spcAft>
                        <a:buNone/>
                      </a:pPr>
                      <a:r>
                        <a:rPr lang="en-GB" b="1">
                          <a:solidFill>
                            <a:schemeClr val="dk1"/>
                          </a:solidFill>
                        </a:rPr>
                        <a:t>Attention</a:t>
                      </a:r>
                      <a:endParaRPr b="1">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WaveLM+</a:t>
                      </a:r>
                      <a:endParaRPr>
                        <a:solidFill>
                          <a:schemeClr val="dk1"/>
                        </a:solidFill>
                      </a:endParaRPr>
                    </a:p>
                    <a:p>
                      <a:pPr marL="0" lvl="0" indent="0" algn="l" rtl="0">
                        <a:spcBef>
                          <a:spcPts val="0"/>
                        </a:spcBef>
                        <a:spcAft>
                          <a:spcPts val="0"/>
                        </a:spcAft>
                        <a:buNone/>
                      </a:pPr>
                      <a:r>
                        <a:rPr lang="en-GB">
                          <a:solidFill>
                            <a:schemeClr val="dk1"/>
                          </a:solidFill>
                        </a:rPr>
                        <a:t>BERT+</a:t>
                      </a:r>
                      <a:endParaRPr>
                        <a:solidFill>
                          <a:schemeClr val="dk1"/>
                        </a:solidFill>
                      </a:endParaRPr>
                    </a:p>
                    <a:p>
                      <a:pPr marL="0" lvl="0" indent="0" algn="l" rtl="0">
                        <a:spcBef>
                          <a:spcPts val="0"/>
                        </a:spcBef>
                        <a:spcAft>
                          <a:spcPts val="0"/>
                        </a:spcAft>
                        <a:buNone/>
                      </a:pPr>
                      <a:r>
                        <a:rPr lang="en-GB">
                          <a:solidFill>
                            <a:schemeClr val="dk1"/>
                          </a:solidFill>
                        </a:rPr>
                        <a:t>Attention</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r>
              <a:tr h="381000">
                <a:tc>
                  <a:txBody>
                    <a:bodyPr/>
                    <a:lstStyle/>
                    <a:p>
                      <a:pPr marL="0" lvl="0" indent="0" algn="l" rtl="0">
                        <a:spcBef>
                          <a:spcPts val="0"/>
                        </a:spcBef>
                        <a:spcAft>
                          <a:spcPts val="0"/>
                        </a:spcAft>
                        <a:buNone/>
                      </a:pPr>
                      <a:r>
                        <a:rPr lang="en-GB">
                          <a:solidFill>
                            <a:schemeClr val="dk1"/>
                          </a:solidFill>
                        </a:rPr>
                        <a:t>Accuracy</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24% ~ 28%</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45.31%</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52.4%</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56.89%</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b="1">
                          <a:solidFill>
                            <a:schemeClr val="dk1"/>
                          </a:solidFill>
                        </a:rPr>
                        <a:t>58.12%</a:t>
                      </a:r>
                      <a:endParaRPr b="1">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GB">
                          <a:solidFill>
                            <a:schemeClr val="dk1"/>
                          </a:solidFill>
                        </a:rPr>
                        <a:t>56.26%</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r>
            </a:tbl>
          </a:graphicData>
        </a:graphic>
      </p:graphicFrame>
      <p:sp>
        <p:nvSpPr>
          <p:cNvPr id="590" name="Google Shape;590;p47"/>
          <p:cNvSpPr txBox="1"/>
          <p:nvPr/>
        </p:nvSpPr>
        <p:spPr>
          <a:xfrm>
            <a:off x="1323925" y="1712800"/>
            <a:ext cx="662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latin typeface="Times New Roman" panose="02020603050405020304"/>
                <a:ea typeface="Times New Roman" panose="02020603050405020304"/>
                <a:cs typeface="Times New Roman" panose="02020603050405020304"/>
                <a:sym typeface="Times New Roman" panose="02020603050405020304"/>
              </a:rPr>
              <a:t>Model</a:t>
            </a:r>
            <a:endParaRPr sz="1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1" name="Google Shape;591;p47"/>
          <p:cNvSpPr txBox="1"/>
          <p:nvPr/>
        </p:nvSpPr>
        <p:spPr>
          <a:xfrm>
            <a:off x="952475" y="3269200"/>
            <a:ext cx="662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latin typeface="Times New Roman" panose="02020603050405020304"/>
                <a:ea typeface="Times New Roman" panose="02020603050405020304"/>
                <a:cs typeface="Times New Roman" panose="02020603050405020304"/>
                <a:sym typeface="Times New Roman" panose="02020603050405020304"/>
              </a:rPr>
              <a:t>Score</a:t>
            </a:r>
            <a:endParaRPr sz="1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92" name="Google Shape;592;p47"/>
          <p:cNvCxnSpPr/>
          <p:nvPr/>
        </p:nvCxnSpPr>
        <p:spPr>
          <a:xfrm>
            <a:off x="939925" y="1712800"/>
            <a:ext cx="1046700" cy="1950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48"/>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598" name="Google Shape;598;p48"/>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Demo</a:t>
            </a:r>
            <a:endParaRPr sz="3000" b="1">
              <a:solidFill>
                <a:schemeClr val="lt1"/>
              </a:solidFill>
            </a:endParaRPr>
          </a:p>
        </p:txBody>
      </p:sp>
      <p:sp>
        <p:nvSpPr>
          <p:cNvPr id="599" name="Google Shape;599;p48"/>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00" name="Google Shape;600;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36</a:t>
            </a:r>
            <a:endParaRPr lang="en-GB">
              <a:solidFill>
                <a:schemeClr val="lt1"/>
              </a:solidFill>
            </a:endParaRPr>
          </a:p>
        </p:txBody>
      </p:sp>
      <p:pic>
        <p:nvPicPr>
          <p:cNvPr id="601" name="Google Shape;601;p48"/>
          <p:cNvPicPr preferRelativeResize="0"/>
          <p:nvPr/>
        </p:nvPicPr>
        <p:blipFill>
          <a:blip r:embed="rId1"/>
          <a:stretch>
            <a:fillRect/>
          </a:stretch>
        </p:blipFill>
        <p:spPr>
          <a:xfrm>
            <a:off x="180400" y="1301525"/>
            <a:ext cx="4523155" cy="3157588"/>
          </a:xfrm>
          <a:prstGeom prst="rect">
            <a:avLst/>
          </a:prstGeom>
          <a:noFill/>
          <a:ln>
            <a:noFill/>
          </a:ln>
        </p:spPr>
      </p:pic>
      <p:pic>
        <p:nvPicPr>
          <p:cNvPr id="602" name="Google Shape;602;p48"/>
          <p:cNvPicPr preferRelativeResize="0"/>
          <p:nvPr/>
        </p:nvPicPr>
        <p:blipFill>
          <a:blip r:embed="rId2"/>
          <a:stretch>
            <a:fillRect/>
          </a:stretch>
        </p:blipFill>
        <p:spPr>
          <a:xfrm>
            <a:off x="4760350" y="1301525"/>
            <a:ext cx="4319050" cy="32190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49"/>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08" name="Google Shape;608;p49"/>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Findings</a:t>
            </a:r>
            <a:endParaRPr sz="3000" b="1">
              <a:solidFill>
                <a:schemeClr val="lt1"/>
              </a:solidFill>
            </a:endParaRPr>
          </a:p>
        </p:txBody>
      </p:sp>
      <p:sp>
        <p:nvSpPr>
          <p:cNvPr id="609" name="Google Shape;609;p49"/>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10" name="Google Shape;61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37</a:t>
            </a:r>
            <a:endParaRPr lang="en-GB">
              <a:solidFill>
                <a:schemeClr val="lt1"/>
              </a:solidFill>
            </a:endParaRPr>
          </a:p>
        </p:txBody>
      </p:sp>
      <p:sp>
        <p:nvSpPr>
          <p:cNvPr id="611" name="Google Shape;611;p49"/>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RAVDESS with Denoising</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Environmental noise is impactful in emotion analysis</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Standard filtering techniques struggle with environmental noise</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Deep learning techniques can tackle environmental noise</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The RAVDESS training set does extend well to real data</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MELD with Multimodal</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Multimodal can perform better than a single input model</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The attention mechanism can better fuse features than concatenation </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MELD is a nice dataset for the model to solve real-world problems</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50"/>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17" name="Google Shape;617;p50"/>
          <p:cNvSpPr txBox="1">
            <a:spLocks noGrp="1"/>
          </p:cNvSpPr>
          <p:nvPr>
            <p:ph type="title"/>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Future Research</a:t>
            </a:r>
            <a:endParaRPr sz="3000" b="1">
              <a:solidFill>
                <a:schemeClr val="lt1"/>
              </a:solidFill>
            </a:endParaRPr>
          </a:p>
        </p:txBody>
      </p:sp>
      <p:sp>
        <p:nvSpPr>
          <p:cNvPr id="618" name="Google Shape;618;p50"/>
          <p:cNvSpPr txBox="1">
            <a:spLocks noGrp="1"/>
          </p:cNvSpPr>
          <p:nvPr>
            <p:ph type="body" idx="1"/>
          </p:nvPr>
        </p:nvSpPr>
        <p:spPr>
          <a:xfrm>
            <a:off x="0" y="1061400"/>
            <a:ext cx="9144000" cy="3582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Build an end-to-end pipeline for emotion analysis</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1 Input</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2 Denoise</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3 Speech to Text</a:t>
            </a:r>
            <a:endParaRPr>
              <a:solidFill>
                <a:schemeClr val="dk1"/>
              </a:solidFill>
            </a:endParaRPr>
          </a:p>
          <a:p>
            <a:pPr marL="914400" lvl="1" indent="-317500" algn="l" rtl="0">
              <a:spcBef>
                <a:spcPts val="0"/>
              </a:spcBef>
              <a:spcAft>
                <a:spcPts val="0"/>
              </a:spcAft>
              <a:buClr>
                <a:schemeClr val="dk1"/>
              </a:buClr>
              <a:buSzPts val="1400"/>
              <a:buChar char="-"/>
            </a:pPr>
            <a:r>
              <a:rPr lang="en-GB">
                <a:solidFill>
                  <a:schemeClr val="dk1"/>
                </a:solidFill>
              </a:rPr>
              <a:t>4 Multimodal Classification</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Train with more diverse speech</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Find other ways to keep improving the accuracy of multimodal output </a:t>
            </a:r>
            <a:endParaRPr>
              <a:solidFill>
                <a:schemeClr val="dk1"/>
              </a:solidFill>
            </a:endParaRPr>
          </a:p>
        </p:txBody>
      </p:sp>
      <p:sp>
        <p:nvSpPr>
          <p:cNvPr id="619" name="Google Shape;619;p50"/>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20" name="Google Shape;62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38</a:t>
            </a:r>
            <a:endParaRPr lang="en-GB">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1"/>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26" name="Google Shape;626;p51"/>
          <p:cNvSpPr txBox="1">
            <a:spLocks noGrp="1"/>
          </p:cNvSpPr>
          <p:nvPr>
            <p:ph type="body" idx="1"/>
          </p:nvPr>
        </p:nvSpPr>
        <p:spPr>
          <a:xfrm>
            <a:off x="0" y="1061400"/>
            <a:ext cx="9144000" cy="3582900"/>
          </a:xfrm>
          <a:prstGeom prst="rect">
            <a:avLst/>
          </a:prstGeom>
        </p:spPr>
        <p:txBody>
          <a:bodyPr spcFirstLastPara="1" wrap="square" lIns="91425" tIns="91425" rIns="91425" bIns="91425" anchor="ctr" anchorCtr="0">
            <a:normAutofit/>
          </a:bodyPr>
          <a:lstStyle/>
          <a:p>
            <a:pPr marL="0" lvl="0" indent="0" algn="ctr" rtl="0">
              <a:spcBef>
                <a:spcPts val="0"/>
              </a:spcBef>
              <a:spcAft>
                <a:spcPts val="1200"/>
              </a:spcAft>
              <a:buNone/>
            </a:pPr>
            <a:r>
              <a:rPr lang="en-GB" sz="7200">
                <a:solidFill>
                  <a:schemeClr val="dk1"/>
                </a:solidFill>
              </a:rPr>
              <a:t>Thank you!</a:t>
            </a:r>
            <a:endParaRPr sz="7200">
              <a:solidFill>
                <a:schemeClr val="dk1"/>
              </a:solidFill>
            </a:endParaRPr>
          </a:p>
        </p:txBody>
      </p:sp>
      <p:sp>
        <p:nvSpPr>
          <p:cNvPr id="627" name="Google Shape;627;p51"/>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28" name="Google Shape;628;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39</a:t>
            </a:r>
            <a:endParaRPr lang="en-GB">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fld>
            <a:endParaRPr lang="en-GB"/>
          </a:p>
        </p:txBody>
      </p:sp>
      <p:sp>
        <p:nvSpPr>
          <p:cNvPr id="634" name="Google Shape;634;p52"/>
          <p:cNvSpPr/>
          <p:nvPr/>
        </p:nvSpPr>
        <p:spPr>
          <a:xfrm>
            <a:off x="0" y="0"/>
            <a:ext cx="9144000" cy="10614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35" name="Google Shape;635;p52"/>
          <p:cNvSpPr txBox="1">
            <a:spLocks noGrp="1"/>
          </p:cNvSpPr>
          <p:nvPr>
            <p:ph type="title" idx="4294967295"/>
          </p:nvPr>
        </p:nvSpPr>
        <p:spPr>
          <a:xfrm>
            <a:off x="104875" y="4293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solidFill>
                  <a:schemeClr val="lt1"/>
                </a:solidFill>
              </a:rPr>
              <a:t>References</a:t>
            </a:r>
            <a:endParaRPr sz="3000" b="1">
              <a:solidFill>
                <a:schemeClr val="lt1"/>
              </a:solidFill>
            </a:endParaRPr>
          </a:p>
        </p:txBody>
      </p:sp>
      <p:sp>
        <p:nvSpPr>
          <p:cNvPr id="636" name="Google Shape;636;p52"/>
          <p:cNvSpPr txBox="1">
            <a:spLocks noGrp="1"/>
          </p:cNvSpPr>
          <p:nvPr>
            <p:ph type="body" idx="4294967295"/>
          </p:nvPr>
        </p:nvSpPr>
        <p:spPr>
          <a:xfrm>
            <a:off x="0" y="1061400"/>
            <a:ext cx="9144000" cy="3582900"/>
          </a:xfrm>
          <a:prstGeom prst="rect">
            <a:avLst/>
          </a:prstGeom>
        </p:spPr>
        <p:txBody>
          <a:bodyPr spcFirstLastPara="1" wrap="square" lIns="91425" tIns="91425" rIns="91425" bIns="91425" anchor="t" anchorCtr="0">
            <a:normAutofit fontScale="85000" lnSpcReduction="20000"/>
          </a:bodyPr>
          <a:lstStyle/>
          <a:p>
            <a:pPr marL="457200" marR="50800" lvl="0" indent="-323850" algn="l" rtl="0">
              <a:lnSpc>
                <a:spcPct val="135000"/>
              </a:lnSpc>
              <a:spcBef>
                <a:spcPts val="0"/>
              </a:spcBef>
              <a:spcAft>
                <a:spcPts val="0"/>
              </a:spcAft>
              <a:buClr>
                <a:schemeClr val="dk1"/>
              </a:buClr>
              <a:buSzPct val="160000"/>
              <a:buFont typeface="Times New Roman" panose="02020603050405020304"/>
              <a:buAutoNum type="arabicPeriod"/>
            </a:pPr>
            <a:r>
              <a:rPr lang="en-GB" sz="1100">
                <a:solidFill>
                  <a:schemeClr val="dk1"/>
                </a:solidFill>
              </a:rPr>
              <a:t>A. Baevski, H. Zhou, A. Mohamed, and M. Auli, “wav2vec 2.0: A Framework for Self-Supervised Learning of Speech Representations,” Oct. 22, 2020, </a:t>
            </a:r>
            <a:r>
              <a:rPr lang="en-GB" sz="1100" i="1">
                <a:solidFill>
                  <a:schemeClr val="dk1"/>
                </a:solidFill>
              </a:rPr>
              <a:t>arXiv</a:t>
            </a:r>
            <a:r>
              <a:rPr lang="en-GB" sz="1100">
                <a:solidFill>
                  <a:schemeClr val="dk1"/>
                </a:solidFill>
              </a:rPr>
              <a:t>: arXiv:2006.11477. Accessed: Nov. 01, 2024. [Online]. Available:</a:t>
            </a:r>
            <a:r>
              <a:rPr lang="en-GB" sz="1100">
                <a:solidFill>
                  <a:schemeClr val="dk1"/>
                </a:solidFill>
                <a:uFill>
                  <a:noFill/>
                </a:uFill>
                <a:hlinkClick r:id="rId1"/>
              </a:rPr>
              <a:t> </a:t>
            </a:r>
            <a:r>
              <a:rPr lang="en-GB" sz="1100" u="sng">
                <a:solidFill>
                  <a:schemeClr val="accent5"/>
                </a:solidFill>
                <a:hlinkClick r:id="rId1"/>
              </a:rPr>
              <a:t>http://arxiv.org/abs/2006.11477</a:t>
            </a:r>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ct val="147000"/>
              <a:buFont typeface="Times New Roman" panose="02020603050405020304"/>
              <a:buAutoNum type="arabicPeriod"/>
            </a:pPr>
            <a:r>
              <a:rPr lang="en-GB" sz="1200">
                <a:solidFill>
                  <a:schemeClr val="dk1"/>
                </a:solidFill>
                <a:latin typeface="Times New Roman" panose="02020603050405020304"/>
                <a:ea typeface="Times New Roman" panose="02020603050405020304"/>
                <a:cs typeface="Times New Roman" panose="02020603050405020304"/>
                <a:sym typeface="Times New Roman" panose="02020603050405020304"/>
              </a:rPr>
              <a:t>Chen, S., Wang, C., &amp; Chen, Z. (2022). </a:t>
            </a:r>
            <a:r>
              <a:rPr lang="en-GB" sz="1200" i="1">
                <a:solidFill>
                  <a:schemeClr val="dk1"/>
                </a:solidFill>
                <a:latin typeface="Times New Roman" panose="02020603050405020304"/>
                <a:ea typeface="Times New Roman" panose="02020603050405020304"/>
                <a:cs typeface="Times New Roman" panose="02020603050405020304"/>
                <a:sym typeface="Times New Roman" panose="02020603050405020304"/>
              </a:rPr>
              <a:t>WavLM: Large-Scale Self-Supervised Pre-Training for Full Stack Speech Processing.</a:t>
            </a:r>
            <a:r>
              <a:rPr lang="en-GB" sz="1200">
                <a:solidFill>
                  <a:schemeClr val="dk1"/>
                </a:solidFill>
                <a:latin typeface="Times New Roman" panose="02020603050405020304"/>
                <a:ea typeface="Times New Roman" panose="02020603050405020304"/>
                <a:cs typeface="Times New Roman" panose="02020603050405020304"/>
                <a:sym typeface="Times New Roman" panose="02020603050405020304"/>
              </a:rPr>
              <a:t> arXiv.</a:t>
            </a:r>
            <a:r>
              <a:rPr lang="en-GB" sz="1200">
                <a:solidFill>
                  <a:schemeClr val="dk1"/>
                </a:solidFill>
                <a:uFill>
                  <a:noFill/>
                </a:uFill>
                <a:latin typeface="Times New Roman" panose="02020603050405020304"/>
                <a:ea typeface="Times New Roman" panose="02020603050405020304"/>
                <a:cs typeface="Times New Roman" panose="02020603050405020304"/>
                <a:sym typeface="Times New Roman" panose="02020603050405020304"/>
                <a:hlinkClick r:id="rId2"/>
              </a:rPr>
              <a:t> </a:t>
            </a:r>
            <a:r>
              <a:rPr lang="en-GB" sz="12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2"/>
              </a:rPr>
              <a:t>https://arxiv.org/abs/2110.13900</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ct val="160000"/>
              <a:buFont typeface="Times New Roman" panose="02020603050405020304"/>
              <a:buAutoNum type="arabicPeriod"/>
            </a:pPr>
            <a:r>
              <a:rPr lang="en-GB" sz="1100">
                <a:solidFill>
                  <a:schemeClr val="dk1"/>
                </a:solidFill>
              </a:rPr>
              <a:t>Devlin, J., &amp; Chang, M. (2019). </a:t>
            </a:r>
            <a:r>
              <a:rPr lang="en-GB" sz="1100" i="1">
                <a:solidFill>
                  <a:schemeClr val="dk1"/>
                </a:solidFill>
              </a:rPr>
              <a:t>BERT: Pre-training of Deep Bidirectional Transformers for Language Understanding</a:t>
            </a:r>
            <a:r>
              <a:rPr lang="en-GB" sz="1100">
                <a:solidFill>
                  <a:schemeClr val="dk1"/>
                </a:solidFill>
              </a:rPr>
              <a:t>. arXiv. </a:t>
            </a:r>
            <a:r>
              <a:rPr lang="en-GB" sz="1100" u="sng">
                <a:solidFill>
                  <a:schemeClr val="accent5"/>
                </a:solidFill>
                <a:hlinkClick r:id="rId3"/>
              </a:rPr>
              <a:t>https://arxiv.org/abs/1810.04805</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ct val="160000"/>
              <a:buFont typeface="Times New Roman" panose="02020603050405020304"/>
              <a:buAutoNum type="arabicPeriod"/>
            </a:pPr>
            <a:r>
              <a:rPr lang="en-GB" sz="1100">
                <a:solidFill>
                  <a:schemeClr val="dk1"/>
                </a:solidFill>
              </a:rPr>
              <a:t>Hsu, W., Bolte, B., &amp; Tsai, Y. (2021). </a:t>
            </a:r>
            <a:r>
              <a:rPr lang="en-GB" sz="1100" i="1">
                <a:solidFill>
                  <a:schemeClr val="dk1"/>
                </a:solidFill>
              </a:rPr>
              <a:t>HuBERT: Self-Supervised Speech Representation Learning by Masked Prediction of Hidden Units. </a:t>
            </a:r>
            <a:r>
              <a:rPr lang="en-GB" sz="1100">
                <a:solidFill>
                  <a:schemeClr val="dk1"/>
                </a:solidFill>
              </a:rPr>
              <a:t>arXiv.</a:t>
            </a:r>
            <a:r>
              <a:rPr lang="en-GB" sz="1100">
                <a:solidFill>
                  <a:schemeClr val="dk1"/>
                </a:solidFill>
                <a:uFill>
                  <a:noFill/>
                </a:uFill>
                <a:hlinkClick r:id="rId4"/>
              </a:rPr>
              <a:t> </a:t>
            </a:r>
            <a:r>
              <a:rPr lang="en-GB" sz="1100" u="sng">
                <a:solidFill>
                  <a:schemeClr val="hlink"/>
                </a:solidFill>
                <a:hlinkClick r:id="rId4"/>
              </a:rPr>
              <a:t>https://arxiv.org/abs/2106.07447</a:t>
            </a:r>
            <a:endParaRPr sz="1100">
              <a:solidFill>
                <a:schemeClr val="dk1"/>
              </a:solidFill>
            </a:endParaRPr>
          </a:p>
          <a:p>
            <a:pPr marL="457200" marR="50800" lvl="0" indent="-323850" algn="l" rtl="0">
              <a:lnSpc>
                <a:spcPct val="135000"/>
              </a:lnSpc>
              <a:spcBef>
                <a:spcPts val="0"/>
              </a:spcBef>
              <a:spcAft>
                <a:spcPts val="0"/>
              </a:spcAft>
              <a:buClr>
                <a:schemeClr val="dk1"/>
              </a:buClr>
              <a:buSzPct val="160000"/>
              <a:buFont typeface="Times New Roman" panose="02020603050405020304"/>
              <a:buAutoNum type="arabicPeriod"/>
            </a:pPr>
            <a:r>
              <a:rPr lang="en-GB" sz="1100">
                <a:solidFill>
                  <a:schemeClr val="dk1"/>
                </a:solidFill>
              </a:rPr>
              <a:t>L. Wan, H. Liu, L. Shi, Y. Zhou, and L. Gan, “Cross Domain Optimization for Speech Enhancement: Parallel or Cascade?,” </a:t>
            </a:r>
            <a:r>
              <a:rPr lang="en-GB" sz="1100" i="1">
                <a:solidFill>
                  <a:schemeClr val="dk1"/>
                </a:solidFill>
              </a:rPr>
              <a:t>IEEE/ACM Trans. Audio Speech Lang. Process.</a:t>
            </a:r>
            <a:r>
              <a:rPr lang="en-GB" sz="1100">
                <a:solidFill>
                  <a:schemeClr val="dk1"/>
                </a:solidFill>
              </a:rPr>
              <a:t>, vol. 32, pp. 4328–4341, 2024, doi:</a:t>
            </a:r>
            <a:r>
              <a:rPr lang="en-GB" sz="1100">
                <a:solidFill>
                  <a:schemeClr val="dk1"/>
                </a:solidFill>
                <a:uFill>
                  <a:noFill/>
                </a:uFill>
                <a:hlinkClick r:id="rId5"/>
              </a:rPr>
              <a:t> </a:t>
            </a:r>
            <a:r>
              <a:rPr lang="en-GB" sz="1100" u="sng">
                <a:solidFill>
                  <a:schemeClr val="accent5"/>
                </a:solidFill>
                <a:hlinkClick r:id="rId5"/>
              </a:rPr>
              <a:t>10.1109/TASLP.2024.3468026</a:t>
            </a:r>
            <a:r>
              <a:rPr lang="en-GB" sz="1100">
                <a:solidFill>
                  <a:schemeClr val="dk1"/>
                </a:solidFill>
              </a:rPr>
              <a:t>.</a:t>
            </a:r>
            <a:endParaRPr sz="1100">
              <a:solidFill>
                <a:schemeClr val="dk1"/>
              </a:solidFill>
            </a:endParaRPr>
          </a:p>
          <a:p>
            <a:pPr marL="457200" marR="50800" lvl="0" indent="-323850" algn="l" rtl="0">
              <a:lnSpc>
                <a:spcPct val="135000"/>
              </a:lnSpc>
              <a:spcBef>
                <a:spcPts val="0"/>
              </a:spcBef>
              <a:spcAft>
                <a:spcPts val="0"/>
              </a:spcAft>
              <a:buClr>
                <a:schemeClr val="dk1"/>
              </a:buClr>
              <a:buSzPct val="160000"/>
              <a:buFont typeface="Times New Roman" panose="02020603050405020304"/>
              <a:buAutoNum type="arabicPeriod"/>
            </a:pPr>
            <a:r>
              <a:rPr lang="en-GB" sz="1100">
                <a:solidFill>
                  <a:schemeClr val="dk1"/>
                </a:solidFill>
              </a:rPr>
              <a:t>O. Julius, Ibidun. C. Obagbuwa, A. A. Adebiyi, and E. B. Michael, “Implementation of Audio Signals Denoising for Perfect Speech-to-Speech Translation Using Principal Component Analysis,” in </a:t>
            </a:r>
            <a:r>
              <a:rPr lang="en-GB" sz="1100" i="1">
                <a:solidFill>
                  <a:schemeClr val="dk1"/>
                </a:solidFill>
              </a:rPr>
              <a:t>2023 International Conference on Science, Engineering and Business for Sustainable Development Goals (SEB-SDG)</a:t>
            </a:r>
            <a:r>
              <a:rPr lang="en-GB" sz="1100">
                <a:solidFill>
                  <a:schemeClr val="dk1"/>
                </a:solidFill>
              </a:rPr>
              <a:t>, Omu-Aran, Nigeria: IEEE, Apr. 2023, pp. 1–6. doi:</a:t>
            </a:r>
            <a:r>
              <a:rPr lang="en-GB" sz="1100">
                <a:solidFill>
                  <a:schemeClr val="dk1"/>
                </a:solidFill>
                <a:uFill>
                  <a:noFill/>
                </a:uFill>
                <a:hlinkClick r:id="rId6"/>
              </a:rPr>
              <a:t> </a:t>
            </a:r>
            <a:r>
              <a:rPr lang="en-GB" sz="1100" u="sng">
                <a:solidFill>
                  <a:schemeClr val="accent5"/>
                </a:solidFill>
                <a:hlinkClick r:id="rId6"/>
              </a:rPr>
              <a:t>10.1109/SEB-SDG57117.2023.10124385</a:t>
            </a:r>
            <a:r>
              <a:rPr lang="en-GB" sz="1100">
                <a:solidFill>
                  <a:schemeClr val="dk1"/>
                </a:solidFill>
              </a:rPr>
              <a:t>.</a:t>
            </a:r>
            <a:endParaRPr sz="1100">
              <a:solidFill>
                <a:schemeClr val="dk1"/>
              </a:solidFill>
            </a:endParaRPr>
          </a:p>
          <a:p>
            <a:pPr marL="457200" lvl="0" indent="-323850" algn="l" rtl="0">
              <a:spcBef>
                <a:spcPts val="0"/>
              </a:spcBef>
              <a:spcAft>
                <a:spcPts val="0"/>
              </a:spcAft>
              <a:buClr>
                <a:schemeClr val="dk1"/>
              </a:buClr>
              <a:buSzPct val="160000"/>
              <a:buFont typeface="Times New Roman" panose="02020603050405020304"/>
              <a:buAutoNum type="arabicPeriod"/>
            </a:pPr>
            <a:r>
              <a:rPr lang="en-GB" sz="1100">
                <a:solidFill>
                  <a:schemeClr val="dk1"/>
                </a:solidFill>
              </a:rPr>
              <a:t>S. Pascual, A. Bonafonte, and J. Serrà, “SEGAN: Speech Enhancement Generative Adversarial Network,” Jun. 09, 2017, </a:t>
            </a:r>
            <a:r>
              <a:rPr lang="en-GB" sz="1100" i="1">
                <a:solidFill>
                  <a:schemeClr val="dk1"/>
                </a:solidFill>
              </a:rPr>
              <a:t>arXiv</a:t>
            </a:r>
            <a:r>
              <a:rPr lang="en-GB" sz="1100">
                <a:solidFill>
                  <a:schemeClr val="dk1"/>
                </a:solidFill>
              </a:rPr>
              <a:t>: arXiv:1703.09452. Accessed: Nov. 02, 2024. [Online]. Available:</a:t>
            </a:r>
            <a:r>
              <a:rPr lang="en-GB" sz="1100">
                <a:solidFill>
                  <a:schemeClr val="dk1"/>
                </a:solidFill>
                <a:uFill>
                  <a:noFill/>
                </a:uFill>
                <a:hlinkClick r:id="rId7"/>
              </a:rPr>
              <a:t> </a:t>
            </a:r>
            <a:r>
              <a:rPr lang="en-GB" sz="1100" u="sng">
                <a:solidFill>
                  <a:schemeClr val="hlink"/>
                </a:solidFill>
                <a:hlinkClick r:id="rId7"/>
              </a:rPr>
              <a:t>http://arxiv.org/abs/1703.09452</a:t>
            </a:r>
            <a:endParaRPr sz="1100">
              <a:solidFill>
                <a:schemeClr val="dk1"/>
              </a:solidFill>
            </a:endParaRPr>
          </a:p>
          <a:p>
            <a:pPr marL="457200" marR="50800" lvl="0" indent="-323850" algn="l" rtl="0">
              <a:lnSpc>
                <a:spcPct val="135000"/>
              </a:lnSpc>
              <a:spcBef>
                <a:spcPts val="0"/>
              </a:spcBef>
              <a:spcAft>
                <a:spcPts val="0"/>
              </a:spcAft>
              <a:buClr>
                <a:schemeClr val="dk1"/>
              </a:buClr>
              <a:buSzPct val="160000"/>
              <a:buFont typeface="Times New Roman" panose="02020603050405020304"/>
              <a:buAutoNum type="arabicPeriod"/>
            </a:pPr>
            <a:r>
              <a:rPr lang="en-GB" sz="1100">
                <a:solidFill>
                  <a:schemeClr val="dk1"/>
                </a:solidFill>
              </a:rPr>
              <a:t>S.-W. Fu, C.-F. Liao, Y. Tsao, and S.-D. Lin, “MetricGAN: Generative Adversarial Networks based Black-box Metric Scores Optimization for Speech Enhancement,” May 13, 2019, </a:t>
            </a:r>
            <a:r>
              <a:rPr lang="en-GB" sz="1100" i="1">
                <a:solidFill>
                  <a:schemeClr val="dk1"/>
                </a:solidFill>
              </a:rPr>
              <a:t>arXiv</a:t>
            </a:r>
            <a:r>
              <a:rPr lang="en-GB" sz="1100">
                <a:solidFill>
                  <a:schemeClr val="dk1"/>
                </a:solidFill>
              </a:rPr>
              <a:t>: arXiv:1905.04874. doi:</a:t>
            </a:r>
            <a:r>
              <a:rPr lang="en-GB" sz="1100">
                <a:solidFill>
                  <a:schemeClr val="dk1"/>
                </a:solidFill>
                <a:uFill>
                  <a:noFill/>
                </a:uFill>
                <a:hlinkClick r:id="rId8"/>
              </a:rPr>
              <a:t> </a:t>
            </a:r>
            <a:r>
              <a:rPr lang="en-GB" sz="1100" u="sng">
                <a:solidFill>
                  <a:schemeClr val="hlink"/>
                </a:solidFill>
                <a:hlinkClick r:id="rId8"/>
              </a:rPr>
              <a:t>10.48550/arXiv.1905.04874</a:t>
            </a:r>
            <a:r>
              <a:rPr lang="en-GB" sz="1100">
                <a:solidFill>
                  <a:schemeClr val="dk1"/>
                </a:solidFill>
              </a:rPr>
              <a:t>.</a:t>
            </a:r>
            <a:endParaRPr sz="1100">
              <a:solidFill>
                <a:schemeClr val="dk1"/>
              </a:solidFill>
            </a:endParaRPr>
          </a:p>
          <a:p>
            <a:pPr marL="457200" lvl="0" indent="-318135" algn="l" rtl="0">
              <a:spcBef>
                <a:spcPts val="0"/>
              </a:spcBef>
              <a:spcAft>
                <a:spcPts val="0"/>
              </a:spcAft>
              <a:buClr>
                <a:schemeClr val="dk1"/>
              </a:buClr>
              <a:buSzPct val="151000"/>
              <a:buAutoNum type="arabicPeriod"/>
            </a:pPr>
            <a:r>
              <a:rPr lang="en-GB" sz="1100">
                <a:solidFill>
                  <a:schemeClr val="dk1"/>
                </a:solidFill>
              </a:rPr>
              <a:t>Vaswani, A., &amp; Shazeer, N. (2023). </a:t>
            </a:r>
            <a:r>
              <a:rPr lang="en-GB" sz="1100" i="1">
                <a:solidFill>
                  <a:schemeClr val="dk1"/>
                </a:solidFill>
              </a:rPr>
              <a:t>Attention Is All You Need.</a:t>
            </a:r>
            <a:r>
              <a:rPr lang="en-GB" sz="1100">
                <a:solidFill>
                  <a:schemeClr val="dk1"/>
                </a:solidFill>
              </a:rPr>
              <a:t> arXiv.</a:t>
            </a:r>
            <a:r>
              <a:rPr lang="en-GB" sz="1100">
                <a:solidFill>
                  <a:schemeClr val="dk1"/>
                </a:solidFill>
                <a:uFill>
                  <a:noFill/>
                </a:uFill>
                <a:hlinkClick r:id="rId3"/>
              </a:rPr>
              <a:t> </a:t>
            </a:r>
            <a:r>
              <a:rPr lang="en-GB" sz="1100" u="sng">
                <a:solidFill>
                  <a:schemeClr val="accent5"/>
                </a:solidFill>
                <a:hlinkClick r:id="rId9"/>
              </a:rPr>
              <a:t>https://arxiv.org/abs/1706.03762</a:t>
            </a:r>
            <a:r>
              <a:rPr lang="en-GB" sz="19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1100">
              <a:solidFill>
                <a:schemeClr val="dk1"/>
              </a:solidFill>
            </a:endParaRPr>
          </a:p>
        </p:txBody>
      </p:sp>
      <p:sp>
        <p:nvSpPr>
          <p:cNvPr id="637" name="Google Shape;637;p52"/>
          <p:cNvSpPr/>
          <p:nvPr/>
        </p:nvSpPr>
        <p:spPr>
          <a:xfrm>
            <a:off x="0" y="4703625"/>
            <a:ext cx="9144000" cy="439800"/>
          </a:xfrm>
          <a:prstGeom prst="rect">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638" name="Google Shape;638;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GB">
                <a:solidFill>
                  <a:schemeClr val="lt1"/>
                </a:solidFill>
              </a:rPr>
              <a:t>40</a:t>
            </a:r>
            <a:endParaRPr lang="en-GB">
              <a:solidFill>
                <a:schemeClr val="lt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10374</Words>
  <Application>WPS Presentation</Application>
  <PresentationFormat>On-screen Show (16:9)</PresentationFormat>
  <Paragraphs>670</Paragraphs>
  <Slides>40</Slides>
  <Notes>40</Notes>
  <HiddenSlides>0</HiddenSlides>
  <MMClips>19</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40</vt:i4>
      </vt:variant>
    </vt:vector>
  </HeadingPairs>
  <TitlesOfParts>
    <vt:vector size="52" baseType="lpstr">
      <vt:lpstr>Arial</vt:lpstr>
      <vt:lpstr>宋体</vt:lpstr>
      <vt:lpstr>Wingdings</vt:lpstr>
      <vt:lpstr>Arial</vt:lpstr>
      <vt:lpstr>微软雅黑</vt:lpstr>
      <vt:lpstr>汉仪旗黑</vt:lpstr>
      <vt:lpstr>宋体</vt:lpstr>
      <vt:lpstr>Arial Unicode MS</vt:lpstr>
      <vt:lpstr>Times New Roman</vt:lpstr>
      <vt:lpstr>Times New Roman</vt:lpstr>
      <vt:lpstr>汉仪书宋二KW</vt:lpstr>
      <vt:lpstr>Simple Light</vt:lpstr>
      <vt:lpstr>Noisy Environment</vt:lpstr>
      <vt:lpstr>Overview</vt:lpstr>
      <vt:lpstr>Background</vt:lpstr>
      <vt:lpstr>Motivation</vt:lpstr>
      <vt:lpstr>Problem Set Up</vt:lpstr>
      <vt:lpstr>RAVDESS Dataset</vt:lpstr>
      <vt:lpstr>Baseline Results</vt:lpstr>
      <vt:lpstr>Reverse Turing Test</vt:lpstr>
      <vt:lpstr>Noise</vt:lpstr>
      <vt:lpstr>Noise Addition - Gaussian</vt:lpstr>
      <vt:lpstr>Noise Addition - ESC-50</vt:lpstr>
      <vt:lpstr>Initial Results</vt:lpstr>
      <vt:lpstr>Denoising</vt:lpstr>
      <vt:lpstr>Explored Denoising Techniques</vt:lpstr>
      <vt:lpstr>SEGAN</vt:lpstr>
      <vt:lpstr>Metric GAN+ and Wav2Vec</vt:lpstr>
      <vt:lpstr>GAN Comparison</vt:lpstr>
      <vt:lpstr>Results</vt:lpstr>
      <vt:lpstr>MELD Dataset </vt:lpstr>
      <vt:lpstr>Data Preprocessing </vt:lpstr>
      <vt:lpstr>Data Preprocessing</vt:lpstr>
      <vt:lpstr>Data Preprocessing</vt:lpstr>
      <vt:lpstr>Machine Learning Approach</vt:lpstr>
      <vt:lpstr>Machine Learning Approach</vt:lpstr>
      <vt:lpstr>Machine Learning Approach</vt:lpstr>
      <vt:lpstr>Deep Learning Approach</vt:lpstr>
      <vt:lpstr>Deep Learning Approach</vt:lpstr>
      <vt:lpstr>Deep Learning Approach </vt:lpstr>
      <vt:lpstr>Deep Learning Approach </vt:lpstr>
      <vt:lpstr>Deep Learning Approach (Multimodal)</vt:lpstr>
      <vt:lpstr>Deep Learning Approach (Multimodal)</vt:lpstr>
      <vt:lpstr>Deep Learning Approach (Multimodal)</vt:lpstr>
      <vt:lpstr>Deep Learning Approach (Multimodal)</vt:lpstr>
      <vt:lpstr>Deep Learning Approach (Multimodal)</vt:lpstr>
      <vt:lpstr>Experiment Result Table (MELD)</vt:lpstr>
      <vt:lpstr>Demo</vt:lpstr>
      <vt:lpstr>Findings</vt:lpstr>
      <vt:lpstr>Future Research</vt:lpstr>
      <vt:lpstr>PowerPoint 演示文稿</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fatfat</cp:lastModifiedBy>
  <cp:revision>3</cp:revision>
  <dcterms:created xsi:type="dcterms:W3CDTF">2026-09-23T16:12:51Z</dcterms:created>
  <dcterms:modified xsi:type="dcterms:W3CDTF">2026-09-23T16:12:51Z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CAFBC87B9CB9BA5882FAB36A691364CC_43</vt:lpwstr>
  </property>
  <property fmtid="{D5CDD505-2E9C-101B-9397-08002B2CF9AE}" pid="3" name="KSOProductBuildVer">
    <vt:lpwstr>1033-7.2.1.8947</vt:lpwstr>
  </property>
</Properties>
</file>